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[names], and over the past weeks we acted as consultants for Bean there done that. In 2023 the company stopped taking on new customers to create a steady state. The CEO now asks one question: are we ready to grow as of next year? We analysed a full year of data on sourcing, roasting, stock, sales and delivery. Our short answer: not yet, but within one year, if you make three changes. Let us show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whole story on one slide. Bean there done that is not ready to grow today, for three reasons. One: capacity is full. Both roasters and the packing line already run a complete shift. Two: production planning ignores demand. We roast the same amount every month in a seasonal market, so in 2023 48 tonnes of coffee expired. Three: supply and service are fragile. Bean stock fell to one week, and one in eight customers paid shipping costs they should not have paid. The good news: each roadblock has a fix that can be done within a year. The rest of the presentation shows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the CRISP-DM model and started with business understanding. Bean there done that roasts about 1,000 tonnes of green beans a year, has less than 1 percent of the Dutch market and sells premium specialty coffee, mostly online. After struggling with growth, the company stopped accepting new customers at the start of 2023. Our audience is the CEO, and the question is whether the company is ready to grow next year. To answer it we split the operation into five steps, from sourcing to delivery, and defined KPIs for each step. These are the KPIs you will see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data understanding. We received five datasets covering 2023, including more than 240,000 webshop orders. Before drawing conclusions we checked whether the datasets agree with each other. They do: the beans used according to the stock records match the roaster input exactly, and finished-goods stock equals what was roasted minus what was sold and scrapped. That gives us confidence in the numbers. One exception: the packaging stock. The records show about 15,000 half-kilo bags used per month, while about 83,000 are sold. So packaging stock is not registered reliably, which is a risk in itself. In preparation we converted all sales to kilograms so we can compare sales with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scorecard: the KPIs for each part of the operation. Sales are stable at 18 million euros, almost all of it online. But look at the status column: sourcing, roasting, packing and delivery all have at least one red KPI. Capacity is full, 48 tonnes of roasted coffee expired, bean stock got dangerously low, and the webshop charged more than 30,000 customers shipping costs by mistake. On the next slides we zoom in on each of these, one message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sales, because demand drives everything else. On the left: the number of orders per day. It is exactly 658, every day of the year. That is the effect of the decision to stop accepting new customers. On the right: how much coffee each order contains. In the autumn and winter, September to February, customers buy about 3.4 kilos per order; in spring and summer about 2.5. That is 36 percent more. So demand is clearly seasonal. B2B is small: 21 office clients and only 2.3 percent of revenue. Remember this seasonal pattern, because the roastery does not follow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compare demand, the blue line, with what we roast, the orange line. Roasting is almost flat at about 65 tonnes per month. Demand is not: about 52 tonnes in spring and summer, about 72 in autumn and winter. So from March to August we roast 83 tonnes more than we sell, and it all goes into the warehouse. From September onwards it is the other way around: demand is higher than what the roasters can make, and we live off the stock. The production plan is not linked to the sales forecast. What happens to all that summer stock?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cost of flat production. The grey bars show roasted coffee in the warehouse. From February to May stock more than doubles. Roasted coffee is a fresh product, and in June, July and August 48 tonnes expired and had to be scrapped, the orange parts. That is 6.2 percent of everything we roasted. In green beans alone that is about half a million euros; in sales value it is 1.16 million. The pattern is clear: coffee expired after stock rose above roughly six weeks of sales. This is the biggest improvement opportunity in the company, and it costs no investment, only better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can't the roasters follow demand in autumn? Because they are full. On a normal working day the P60 is busy for 8 hours, the Px120 for 8.5 hours, and the packing line for 8.3 hours. That is one complete shift, already slightly over. There is hidden capacity though. The Px120 is rated at 480 kilos per hour, but in practice delivers only 63 percent of that. Two reasons: batches are filled to 110 instead of 120 kilos, and every setup takes 6 minutes, versus 4 on the smaller roaster. Those are the quick wins we will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generally good: fewer than 2 percent of batches are rejected. But light roast is the exception: 5 percent of its batches fail, three to four times as often as dark or medium. The reasons are spread evenly over weight, colour and roast profile, so there is not one broken thing. What stands out is that light and dark roast share the same machine, the Px120, and switch profiles every day. That machine has twice the reject rate of the P60, which only roasts medium. Every rejected batch costs beans and, now that we are at full capacity, also scarce machine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start of the chain: the green beans. Here you see how many working days of roasting the bean stock covers at the end of each month. Three times it dropped below three weeks, and in July to only 7 working days. The beans come by sea container from Colombia, Uganda and Costa Rica, so one delayed ship would stop the roasters. At the same time, 5 tonnes of beans expired in May. That tells us purchasing follows a fixed rhythm instead of actual usage. In 2023 we bought 98 containers, and each origin comes from one single farmer. For growth that is a real roadblock: one farmer cannot simply double his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chain, the customer. Two problems. First, the shipping fee. The promise is free shipping above 55 euros. But the webshop actually applies a different rule: free shipping from five bags. So a customer who buys three or four one-kilo bags, worth 69 to 106 euros, still pays 4.95. That happened more than 30,000 times, one in eight orders, 152 thousand euros in total. Second, delivery. We promise next-day delivery, but 7.9 percent of parcels arrive later, about one in thirteen. Lateness is spread evenly over all provinces and weekdays, so it is a process issue at PostNL, not a regional one. For a premium brand both problems hurt customer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if the company starts growing next year? First, where would growth come from? We compared orders with the number of inhabitants per province. Utrecht and Gelderland order a lot. But Noord-Holland and Zuid-Holland, the two biggest provinces, order 4 to 6 times less per inhabitant. If those two only reached the Dutch average, we would have 22 percent more orders, without opening any new region. And our B2B clients are already in the Randstad. So 20 percent growth next year is realistic. That brings us to the key question: can the operation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simulate 20 percent growth with the same seasonal pattern, the blue line. The orange line is today's capacity: about 65 tonnes a month. With growth, demand is above that in six months of the year. The quick wins, full batches and faster setups on the Px120, lift capacity by 16 percent to about 75 tonnes, the dashed line. That covers spring and summer, but in the peak season we are still up to 12 tonnes a month short. And we cannot roast it in advance, because we just saw that stock expires. So the peak needs a second shift, on the roasters and the packing line. Everything else grows too: about 118 containers of beans, 790 parcels a day, and 20 percent more packaging.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advice is a one-year roadmap in three phases. Phase one, fix now, in the first three months: correct the shipping rule in the webshop and compensate the customers who paid too much. Start a monthly sales and operations plan, so we roast to the sales forecast with a maximum of about four weeks of stock, first in, first out. And register packaging stock correctly. Phase two, prepare: get the quick wins on the roasters, solve the light-roast quality problem, build a bean safety stock and add a second farmer per origin, and agree a clear delivery target with PostNL. Phase three, grow: from month nine, just before the peak season, reopen to new customers, starting in Noord- and Zuid-Holland, and run a second shift in the busy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is Bean there done that ready to grow next year? Our answer is yes, but only after the fixes are in place. The expected outcome: about half a million euros a year saved on beans when no coffee expires; 16 percent more roasting capacity without buying a new machine; and room for 20 percent growth with a second shift in the peak season. Our request to you today: approve the three-month fix plan and start preparing the peak-season shift, so the company can reopen to new customers in month nine. Thank you,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how we calculated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853414"/>
          </a:xfrm>
          <a:prstGeom prst="rect">
            <a:avLst/>
          </a:prstGeom>
          <a:noFill/>
          <a:ln/>
        </p:spPr>
        <p:txBody>
          <a:bodyPr wrap="square" lIns="0" tIns="0" rIns="0" bIns="0" rtlCol="0" anchor="t"/>
          <a:lstStyle>
            <a:lvl1pPr algn="l" indent="0" marL="0">
              <a:lnSpc>
                <a:spcPct val="115000"/>
              </a:lnSpc>
              <a:buNone/>
              <a:defRPr lang="en-US" sz="2800" dirty="0">
                <a:solidFill>
                  <a:srgbClr val="2B1D16"/>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285934"/>
            <a:ext cx="10566400" cy="3759266"/>
          </a:xfrm>
          <a:prstGeom prst="rect">
            <a:avLst/>
          </a:prstGeom>
          <a:noFill/>
          <a:ln/>
        </p:spPr>
        <p:txBody>
          <a:bodyPr wrap="square" lIns="0" tIns="0" rIns="0" bIns="0" rtlCol="0" anchor="t"/>
          <a:lstStyle>
            <a:lvl1pPr algn="l" indent="0" marL="0">
              <a:lnSpc>
                <a:spcPct val="140000"/>
              </a:lnSpc>
              <a:buNone/>
              <a:defRPr lang="en-US" sz="1600" dirty="0">
                <a:solidFill>
                  <a:srgbClr val="2B1D16"/>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853414"/>
          </a:xfrm>
          <a:prstGeom prst="rect">
            <a:avLst/>
          </a:prstGeom>
          <a:noFill/>
          <a:ln/>
        </p:spPr>
        <p:txBody>
          <a:bodyPr wrap="square" lIns="0" tIns="0" rIns="0" bIns="0" rtlCol="0" anchor="t"/>
          <a:lstStyle>
            <a:lvl1pPr algn="l" indent="0" marL="0">
              <a:lnSpc>
                <a:spcPct val="115000"/>
              </a:lnSpc>
              <a:buNone/>
              <a:defRPr lang="en-US" sz="2800" dirty="0">
                <a:solidFill>
                  <a:srgbClr val="2B1D16"/>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285934"/>
            <a:ext cx="10566400" cy="3759266"/>
          </a:xfrm>
          <a:prstGeom prst="rect">
            <a:avLst/>
          </a:prstGeom>
          <a:noFill/>
          <a:ln/>
        </p:spPr>
        <p:txBody>
          <a:bodyPr wrap="square" lIns="0" tIns="0" rIns="0" bIns="0" rtlCol="0" anchor="t"/>
          <a:lstStyle>
            <a:lvl1pPr algn="l" indent="0" marL="0">
              <a:lnSpc>
                <a:spcPct val="140000"/>
              </a:lnSpc>
              <a:buNone/>
              <a:defRPr lang="en-US" sz="1600" dirty="0">
                <a:solidFill>
                  <a:srgbClr val="2B1D16"/>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D16"/>
        </a:solidFill>
      </p:bgPr>
    </p:bg>
    <p:spTree>
      <p:nvGrpSpPr>
        <p:cNvPr id="1" name=""/>
        <p:cNvGrpSpPr/>
        <p:nvPr/>
      </p:nvGrpSpPr>
      <p:grpSpPr>
        <a:xfrm>
          <a:off x="0" y="0"/>
          <a:ext cx="0" cy="0"/>
          <a:chOff x="0" y="0"/>
          <a:chExt cx="0" cy="0"/>
        </a:xfrm>
      </p:grpSpPr>
      <p:sp>
        <p:nvSpPr>
          <p:cNvPr id="2" name="Text 0"/>
          <p:cNvSpPr/>
          <p:nvPr/>
        </p:nvSpPr>
        <p:spPr>
          <a:xfrm>
            <a:off x="812800" y="185671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58A4E"/>
                </a:solidFill>
                <a:latin typeface="Inter" pitchFamily="34" charset="0"/>
                <a:ea typeface="Inter" pitchFamily="34" charset="-122"/>
                <a:cs typeface="Inter" pitchFamily="34" charset="-120"/>
              </a:rPr>
              <a:t>BEAN THERE DONE THAT · ADVICE TO THE CEO</a:t>
            </a:r>
            <a:endParaRPr lang="en-US" sz="1400" dirty="0"/>
          </a:p>
        </p:txBody>
      </p:sp>
      <p:sp>
        <p:nvSpPr>
          <p:cNvPr id="3" name="Text 1"/>
          <p:cNvSpPr/>
          <p:nvPr>
            <p:ph type="title"/>
          </p:nvPr>
        </p:nvSpPr>
        <p:spPr>
          <a:xfrm>
            <a:off x="812800" y="2359620"/>
            <a:ext cx="10883392"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7F3EC"/>
                </a:solidFill>
                <a:latin typeface="Libre Baskerville" pitchFamily="18" charset="0"/>
                <a:ea typeface="Libre Baskerville" pitchFamily="18" charset="-122"/>
                <a:cs typeface="Libre Baskerville" pitchFamily="18" charset="-120"/>
              </a:rPr>
              <a:t>Ready to grow</a:t>
            </a:r>
            <a:endParaRPr lang="en-US" sz="6000" dirty="0"/>
          </a:p>
          <a:p>
            <a:pPr algn="l" indent="0" marL="0">
              <a:lnSpc>
                <a:spcPts val="6600"/>
              </a:lnSpc>
              <a:buNone/>
            </a:pPr>
            <a:r>
              <a:rPr lang="en-US" sz="6000" b="1" i="0" dirty="0">
                <a:solidFill>
                  <a:srgbClr val="F7F3EC"/>
                </a:solidFill>
                <a:latin typeface="Libre Baskerville" pitchFamily="18" charset="0"/>
                <a:ea typeface="Libre Baskerville" pitchFamily="18" charset="-122"/>
                <a:cs typeface="Libre Baskerville" pitchFamily="18" charset="-120"/>
              </a:rPr>
              <a:t>next year?</a:t>
            </a:r>
            <a:endParaRPr lang="en-US" sz="6000" dirty="0"/>
          </a:p>
        </p:txBody>
      </p:sp>
      <p:sp>
        <p:nvSpPr>
          <p:cNvPr id="4" name="Text 2"/>
          <p:cNvSpPr/>
          <p:nvPr/>
        </p:nvSpPr>
        <p:spPr>
          <a:xfrm>
            <a:off x="812800" y="4290020"/>
            <a:ext cx="850265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9CFC2"/>
                </a:solidFill>
                <a:latin typeface="Inter" pitchFamily="34" charset="0"/>
                <a:ea typeface="Inter" pitchFamily="34" charset="-122"/>
                <a:cs typeface="Inter" pitchFamily="34" charset="-120"/>
              </a:rPr>
              <a:t>What one year of operational data tells us about running the roastery today, and what has to change before we grow.</a:t>
            </a:r>
            <a:endParaRPr lang="en-US" sz="20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A899"/>
                </a:solidFill>
                <a:latin typeface="Inter" pitchFamily="34" charset="0"/>
                <a:ea typeface="Inter" pitchFamily="34" charset="-122"/>
                <a:cs typeface="Inter" pitchFamily="34" charset="-120"/>
              </a:rPr>
              <a:t>[Names + student numbers] · Storytelling with Data · HAN Minor Data Driven Decision Making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OUR ANSWER UP FRONT</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Not ready to grow yet: three roadblocks, each with a fix that can be done within a year</a:t>
            </a:r>
            <a:endParaRPr lang="en-US" sz="2800" dirty="0"/>
          </a:p>
        </p:txBody>
      </p:sp>
      <p:sp>
        <p:nvSpPr>
          <p:cNvPr id="4" name="Shape 2"/>
          <p:cNvSpPr/>
          <p:nvPr/>
        </p:nvSpPr>
        <p:spPr>
          <a:xfrm>
            <a:off x="812800" y="2285934"/>
            <a:ext cx="3352800" cy="3556066"/>
          </a:xfrm>
          <a:prstGeom prst="roundRect">
            <a:avLst>
              <a:gd name="adj" fmla="val 3030"/>
            </a:avLst>
          </a:prstGeom>
          <a:solidFill>
            <a:srgbClr val="FFFDF9"/>
          </a:solidFill>
          <a:ln/>
        </p:spPr>
      </p:sp>
      <p:sp>
        <p:nvSpPr>
          <p:cNvPr id="5" name="Shape 3"/>
          <p:cNvSpPr/>
          <p:nvPr/>
        </p:nvSpPr>
        <p:spPr>
          <a:xfrm>
            <a:off x="812800" y="2285934"/>
            <a:ext cx="3352800" cy="3556066"/>
          </a:xfrm>
          <a:custGeom>
            <a:avLst/>
            <a:gdLst/>
            <a:ahLst/>
            <a:cxnLst/>
            <a:rect l="l" t="t" r="r" b="b"/>
            <a:pathLst>
              <a:path w="3352800" h="3556066">
                <a:moveTo>
                  <a:pt x="0" y="101600"/>
                </a:moveTo>
                <a:lnTo>
                  <a:pt x="0" y="101600"/>
                </a:lnTo>
                <a:arcTo hR="101600" wR="101600" stAng="10800000" swAng="5400000"/>
                <a:lnTo>
                  <a:pt x="3251200" y="0"/>
                </a:lnTo>
                <a:arcTo hR="101600" wR="101600" stAng="16200000" swAng="5400000"/>
                <a:lnTo>
                  <a:pt x="3352800" y="101600"/>
                </a:lnTo>
                <a:arcTo hR="50800" wR="101600" stAng="0" swAng="-5400000"/>
                <a:lnTo>
                  <a:pt x="101600" y="50800"/>
                </a:lnTo>
                <a:arcTo hR="50800" wR="101600" stAng="16200000" swAng="-5400000"/>
                <a:close/>
              </a:path>
            </a:pathLst>
          </a:custGeom>
          <a:solidFill>
            <a:srgbClr val="C4561B"/>
          </a:solidFill>
          <a:ln/>
        </p:spPr>
      </p:sp>
      <p:sp>
        <p:nvSpPr>
          <p:cNvPr id="6" name="Text 4"/>
          <p:cNvSpPr/>
          <p:nvPr/>
        </p:nvSpPr>
        <p:spPr>
          <a:xfrm>
            <a:off x="1066800" y="2590734"/>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61B"/>
                </a:solidFill>
                <a:latin typeface="Inter" pitchFamily="34" charset="0"/>
                <a:ea typeface="Inter" pitchFamily="34" charset="-122"/>
                <a:cs typeface="Inter" pitchFamily="34" charset="-120"/>
              </a:rPr>
              <a:t>1 · CAPACITY IS FULL</a:t>
            </a:r>
            <a:endParaRPr lang="en-US" sz="1200" dirty="0"/>
          </a:p>
        </p:txBody>
      </p:sp>
      <p:sp>
        <p:nvSpPr>
          <p:cNvPr id="7" name="Text 5"/>
          <p:cNvSpPr/>
          <p:nvPr/>
        </p:nvSpPr>
        <p:spPr>
          <a:xfrm>
            <a:off x="1066800" y="2931054"/>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Both roasters and the packing line already use </a:t>
            </a:r>
            <a:r>
              <a:rPr lang="en-US" sz="1500" b="1" dirty="0">
                <a:solidFill>
                  <a:srgbClr val="2B1D16"/>
                </a:solidFill>
                <a:latin typeface="Inter" pitchFamily="34" charset="0"/>
                <a:ea typeface="Inter" pitchFamily="34" charset="-122"/>
                <a:cs typeface="Inter" pitchFamily="34" charset="-120"/>
              </a:rPr>
              <a:t>8+ hours a day</a:t>
            </a:r>
            <a:r>
              <a:rPr lang="en-US" sz="1500" dirty="0">
                <a:solidFill>
                  <a:srgbClr val="2B1D16"/>
                </a:solidFill>
                <a:latin typeface="Inter" pitchFamily="34" charset="0"/>
                <a:ea typeface="Inter" pitchFamily="34" charset="-122"/>
                <a:cs typeface="Inter" pitchFamily="34" charset="-120"/>
              </a:rPr>
              <a:t>.</a:t>
            </a:r>
            <a:endParaRPr lang="en-US" sz="1500" dirty="0"/>
          </a:p>
        </p:txBody>
      </p:sp>
      <p:sp>
        <p:nvSpPr>
          <p:cNvPr id="8" name="Text 6"/>
          <p:cNvSpPr/>
          <p:nvPr/>
        </p:nvSpPr>
        <p:spPr>
          <a:xfrm>
            <a:off x="1066800" y="3858154"/>
            <a:ext cx="2930144" cy="77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1D16"/>
                </a:solidFill>
                <a:latin typeface="Inter" pitchFamily="34" charset="0"/>
                <a:ea typeface="Inter" pitchFamily="34" charset="-122"/>
                <a:cs typeface="Inter" pitchFamily="34" charset="-120"/>
              </a:rPr>
              <a:t>Fix:</a:t>
            </a:r>
            <a:r>
              <a:rPr lang="en-US" sz="1400" dirty="0">
                <a:solidFill>
                  <a:srgbClr val="5C534C"/>
                </a:solidFill>
                <a:latin typeface="Inter" pitchFamily="34" charset="0"/>
                <a:ea typeface="Inter" pitchFamily="34" charset="-122"/>
                <a:cs typeface="Inter" pitchFamily="34" charset="-120"/>
              </a:rPr>
              <a:t> full batch loads and faster setups (+16%), then a 2nd shift in the peak season.</a:t>
            </a:r>
            <a:endParaRPr lang="en-US" sz="1400" dirty="0"/>
          </a:p>
        </p:txBody>
      </p:sp>
      <p:sp>
        <p:nvSpPr>
          <p:cNvPr id="9" name="Shape 7"/>
          <p:cNvSpPr/>
          <p:nvPr/>
        </p:nvSpPr>
        <p:spPr>
          <a:xfrm>
            <a:off x="4419600" y="2285934"/>
            <a:ext cx="3352800" cy="3556066"/>
          </a:xfrm>
          <a:prstGeom prst="roundRect">
            <a:avLst>
              <a:gd name="adj" fmla="val 3030"/>
            </a:avLst>
          </a:prstGeom>
          <a:solidFill>
            <a:srgbClr val="FFFDF9"/>
          </a:solidFill>
          <a:ln/>
        </p:spPr>
      </p:sp>
      <p:sp>
        <p:nvSpPr>
          <p:cNvPr id="10" name="Shape 8"/>
          <p:cNvSpPr/>
          <p:nvPr/>
        </p:nvSpPr>
        <p:spPr>
          <a:xfrm>
            <a:off x="4419600" y="2285934"/>
            <a:ext cx="3352800" cy="3556066"/>
          </a:xfrm>
          <a:custGeom>
            <a:avLst/>
            <a:gdLst/>
            <a:ahLst/>
            <a:cxnLst/>
            <a:rect l="l" t="t" r="r" b="b"/>
            <a:pathLst>
              <a:path w="3352800" h="3556066">
                <a:moveTo>
                  <a:pt x="0" y="101600"/>
                </a:moveTo>
                <a:lnTo>
                  <a:pt x="0" y="101600"/>
                </a:lnTo>
                <a:arcTo hR="101600" wR="101600" stAng="10800000" swAng="5400000"/>
                <a:lnTo>
                  <a:pt x="3251200" y="0"/>
                </a:lnTo>
                <a:arcTo hR="101600" wR="101600" stAng="16200000" swAng="5400000"/>
                <a:lnTo>
                  <a:pt x="3352800" y="101600"/>
                </a:lnTo>
                <a:arcTo hR="50800" wR="101600" stAng="0" swAng="-5400000"/>
                <a:lnTo>
                  <a:pt x="101600" y="50800"/>
                </a:lnTo>
                <a:arcTo hR="50800" wR="101600" stAng="16200000" swAng="-5400000"/>
                <a:close/>
              </a:path>
            </a:pathLst>
          </a:custGeom>
          <a:solidFill>
            <a:srgbClr val="C4561B"/>
          </a:solidFill>
          <a:ln/>
        </p:spPr>
      </p:sp>
      <p:sp>
        <p:nvSpPr>
          <p:cNvPr id="11" name="Text 9"/>
          <p:cNvSpPr/>
          <p:nvPr/>
        </p:nvSpPr>
        <p:spPr>
          <a:xfrm>
            <a:off x="4673600" y="2590734"/>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61B"/>
                </a:solidFill>
                <a:latin typeface="Inter" pitchFamily="34" charset="0"/>
                <a:ea typeface="Inter" pitchFamily="34" charset="-122"/>
                <a:cs typeface="Inter" pitchFamily="34" charset="-120"/>
              </a:rPr>
              <a:t>2 · PLANNING IGNORES DEMAND</a:t>
            </a:r>
            <a:endParaRPr lang="en-US" sz="1200" dirty="0"/>
          </a:p>
        </p:txBody>
      </p:sp>
      <p:sp>
        <p:nvSpPr>
          <p:cNvPr id="12" name="Text 10"/>
          <p:cNvSpPr/>
          <p:nvPr/>
        </p:nvSpPr>
        <p:spPr>
          <a:xfrm>
            <a:off x="4673600" y="2931054"/>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Flat roasting in a seasonal market: </a:t>
            </a:r>
            <a:r>
              <a:rPr lang="en-US" sz="1500" b="1" dirty="0">
                <a:solidFill>
                  <a:srgbClr val="2B1D16"/>
                </a:solidFill>
                <a:latin typeface="Inter" pitchFamily="34" charset="0"/>
                <a:ea typeface="Inter" pitchFamily="34" charset="-122"/>
                <a:cs typeface="Inter" pitchFamily="34" charset="-120"/>
              </a:rPr>
              <a:t>48 t of coffee expired</a:t>
            </a:r>
            <a:r>
              <a:rPr lang="en-US" sz="1500" dirty="0">
                <a:solidFill>
                  <a:srgbClr val="2B1D16"/>
                </a:solidFill>
                <a:latin typeface="Inter" pitchFamily="34" charset="0"/>
                <a:ea typeface="Inter" pitchFamily="34" charset="-122"/>
                <a:cs typeface="Inter" pitchFamily="34" charset="-120"/>
              </a:rPr>
              <a:t> in 2023.</a:t>
            </a:r>
            <a:endParaRPr lang="en-US" sz="1500" dirty="0"/>
          </a:p>
        </p:txBody>
      </p:sp>
      <p:sp>
        <p:nvSpPr>
          <p:cNvPr id="13" name="Text 11"/>
          <p:cNvSpPr/>
          <p:nvPr/>
        </p:nvSpPr>
        <p:spPr>
          <a:xfrm>
            <a:off x="4673600" y="3858154"/>
            <a:ext cx="2930144" cy="77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1D16"/>
                </a:solidFill>
                <a:latin typeface="Inter" pitchFamily="34" charset="0"/>
                <a:ea typeface="Inter" pitchFamily="34" charset="-122"/>
                <a:cs typeface="Inter" pitchFamily="34" charset="-120"/>
              </a:rPr>
              <a:t>Fix:</a:t>
            </a:r>
            <a:r>
              <a:rPr lang="en-US" sz="1400" dirty="0">
                <a:solidFill>
                  <a:srgbClr val="5C534C"/>
                </a:solidFill>
                <a:latin typeface="Inter" pitchFamily="34" charset="0"/>
                <a:ea typeface="Inter" pitchFamily="34" charset="-122"/>
                <a:cs typeface="Inter" pitchFamily="34" charset="-120"/>
              </a:rPr>
              <a:t> a monthly plan that roasts to the sales forecast, with a cap on stock.</a:t>
            </a:r>
            <a:endParaRPr lang="en-US" sz="1400" dirty="0"/>
          </a:p>
        </p:txBody>
      </p:sp>
      <p:sp>
        <p:nvSpPr>
          <p:cNvPr id="14" name="Shape 12"/>
          <p:cNvSpPr/>
          <p:nvPr/>
        </p:nvSpPr>
        <p:spPr>
          <a:xfrm>
            <a:off x="8026400" y="2285934"/>
            <a:ext cx="3352800" cy="3556066"/>
          </a:xfrm>
          <a:prstGeom prst="roundRect">
            <a:avLst>
              <a:gd name="adj" fmla="val 3030"/>
            </a:avLst>
          </a:prstGeom>
          <a:solidFill>
            <a:srgbClr val="FFFDF9"/>
          </a:solidFill>
          <a:ln/>
        </p:spPr>
      </p:sp>
      <p:sp>
        <p:nvSpPr>
          <p:cNvPr id="15" name="Shape 13"/>
          <p:cNvSpPr/>
          <p:nvPr/>
        </p:nvSpPr>
        <p:spPr>
          <a:xfrm>
            <a:off x="8026400" y="2285934"/>
            <a:ext cx="3352800" cy="3556066"/>
          </a:xfrm>
          <a:custGeom>
            <a:avLst/>
            <a:gdLst/>
            <a:ahLst/>
            <a:cxnLst/>
            <a:rect l="l" t="t" r="r" b="b"/>
            <a:pathLst>
              <a:path w="3352800" h="3556066">
                <a:moveTo>
                  <a:pt x="0" y="101600"/>
                </a:moveTo>
                <a:lnTo>
                  <a:pt x="0" y="101600"/>
                </a:lnTo>
                <a:arcTo hR="101600" wR="101600" stAng="10800000" swAng="5400000"/>
                <a:lnTo>
                  <a:pt x="3251200" y="0"/>
                </a:lnTo>
                <a:arcTo hR="101600" wR="101600" stAng="16200000" swAng="5400000"/>
                <a:lnTo>
                  <a:pt x="3352800" y="101600"/>
                </a:lnTo>
                <a:arcTo hR="50800" wR="101600" stAng="0" swAng="-5400000"/>
                <a:lnTo>
                  <a:pt x="101600" y="50800"/>
                </a:lnTo>
                <a:arcTo hR="50800" wR="101600" stAng="16200000" swAng="-5400000"/>
                <a:close/>
              </a:path>
            </a:pathLst>
          </a:custGeom>
          <a:solidFill>
            <a:srgbClr val="C4561B"/>
          </a:solidFill>
          <a:ln/>
        </p:spPr>
      </p:sp>
      <p:sp>
        <p:nvSpPr>
          <p:cNvPr id="16" name="Text 14"/>
          <p:cNvSpPr/>
          <p:nvPr/>
        </p:nvSpPr>
        <p:spPr>
          <a:xfrm>
            <a:off x="8280400" y="2590734"/>
            <a:ext cx="293014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61B"/>
                </a:solidFill>
                <a:latin typeface="Inter" pitchFamily="34" charset="0"/>
                <a:ea typeface="Inter" pitchFamily="34" charset="-122"/>
                <a:cs typeface="Inter" pitchFamily="34" charset="-120"/>
              </a:rPr>
              <a:t>3 · SUPPLY AND SERVICE ARE FRAGILE</a:t>
            </a:r>
            <a:endParaRPr lang="en-US" sz="1200" dirty="0"/>
          </a:p>
        </p:txBody>
      </p:sp>
      <p:sp>
        <p:nvSpPr>
          <p:cNvPr id="17" name="Text 15"/>
          <p:cNvSpPr/>
          <p:nvPr/>
        </p:nvSpPr>
        <p:spPr>
          <a:xfrm>
            <a:off x="8280400" y="3144375"/>
            <a:ext cx="293014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Beans for </a:t>
            </a:r>
            <a:r>
              <a:rPr lang="en-US" sz="1500" b="1" dirty="0">
                <a:solidFill>
                  <a:srgbClr val="2B1D16"/>
                </a:solidFill>
                <a:latin typeface="Inter" pitchFamily="34" charset="0"/>
                <a:ea typeface="Inter" pitchFamily="34" charset="-122"/>
                <a:cs typeface="Inter" pitchFamily="34" charset="-120"/>
              </a:rPr>
              <a:t>7 days</a:t>
            </a:r>
            <a:r>
              <a:rPr lang="en-US" sz="1500" dirty="0">
                <a:solidFill>
                  <a:srgbClr val="2B1D16"/>
                </a:solidFill>
                <a:latin typeface="Inter" pitchFamily="34" charset="0"/>
                <a:ea typeface="Inter" pitchFamily="34" charset="-122"/>
                <a:cs typeface="Inter" pitchFamily="34" charset="-120"/>
              </a:rPr>
              <a:t> in July; </a:t>
            </a:r>
            <a:r>
              <a:rPr lang="en-US" sz="1500" b="1" dirty="0">
                <a:solidFill>
                  <a:srgbClr val="2B1D16"/>
                </a:solidFill>
                <a:latin typeface="Inter" pitchFamily="34" charset="0"/>
                <a:ea typeface="Inter" pitchFamily="34" charset="-122"/>
                <a:cs typeface="Inter" pitchFamily="34" charset="-120"/>
              </a:rPr>
              <a:t>1 in 8</a:t>
            </a:r>
            <a:r>
              <a:rPr lang="en-US" sz="1500" dirty="0">
                <a:solidFill>
                  <a:srgbClr val="2B1D16"/>
                </a:solidFill>
                <a:latin typeface="Inter" pitchFamily="34" charset="0"/>
                <a:ea typeface="Inter" pitchFamily="34" charset="-122"/>
                <a:cs typeface="Inter" pitchFamily="34" charset="-120"/>
              </a:rPr>
              <a:t> customers wrongly charged for shipping.</a:t>
            </a:r>
            <a:endParaRPr lang="en-US" sz="1500" dirty="0"/>
          </a:p>
        </p:txBody>
      </p:sp>
      <p:sp>
        <p:nvSpPr>
          <p:cNvPr id="18" name="Text 16"/>
          <p:cNvSpPr/>
          <p:nvPr/>
        </p:nvSpPr>
        <p:spPr>
          <a:xfrm>
            <a:off x="8280400" y="4071475"/>
            <a:ext cx="2930144" cy="77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1D16"/>
                </a:solidFill>
                <a:latin typeface="Inter" pitchFamily="34" charset="0"/>
                <a:ea typeface="Inter" pitchFamily="34" charset="-122"/>
                <a:cs typeface="Inter" pitchFamily="34" charset="-120"/>
              </a:rPr>
              <a:t>Fix:</a:t>
            </a:r>
            <a:r>
              <a:rPr lang="en-US" sz="1400" dirty="0">
                <a:solidFill>
                  <a:srgbClr val="5C534C"/>
                </a:solidFill>
                <a:latin typeface="Inter" pitchFamily="34" charset="0"/>
                <a:ea typeface="Inter" pitchFamily="34" charset="-122"/>
                <a:cs typeface="Inter" pitchFamily="34" charset="-120"/>
              </a:rPr>
              <a:t> bean safety stock, a 2nd farmer per origin, and a corrected webshop rule.</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Bean there done that · company data 2023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CRISP-DM 1 · BUSINESS UNDERSTANDING</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A premium roaster that froze its customer base in 2023 to regain control</a:t>
            </a:r>
            <a:endParaRPr lang="en-US" sz="2800" dirty="0"/>
          </a:p>
        </p:txBody>
      </p:sp>
      <p:sp>
        <p:nvSpPr>
          <p:cNvPr id="4" name="Text 2"/>
          <p:cNvSpPr/>
          <p:nvPr/>
        </p:nvSpPr>
        <p:spPr>
          <a:xfrm>
            <a:off x="812800" y="2285935"/>
            <a:ext cx="525856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1D16"/>
                </a:solidFill>
                <a:latin typeface="Inter" pitchFamily="34" charset="0"/>
                <a:ea typeface="Inter" pitchFamily="34" charset="-122"/>
                <a:cs typeface="Inter" pitchFamily="34" charset="-120"/>
              </a:rPr>
              <a:t>±1,000 t green beans a year · &lt;1% Dutch market share · specialty coffee at a premium price · mostly e-commerce, some B2B</a:t>
            </a:r>
            <a:endParaRPr lang="en-US" sz="1400" dirty="0"/>
          </a:p>
        </p:txBody>
      </p:sp>
      <p:sp>
        <p:nvSpPr>
          <p:cNvPr id="5" name="Text 3"/>
          <p:cNvSpPr/>
          <p:nvPr/>
        </p:nvSpPr>
        <p:spPr>
          <a:xfrm>
            <a:off x="6273800" y="2285935"/>
            <a:ext cx="5258562" cy="79871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B1D16"/>
                </a:solidFill>
                <a:latin typeface="Inter" pitchFamily="34" charset="0"/>
                <a:ea typeface="Inter" pitchFamily="34" charset="-122"/>
                <a:cs typeface="Inter" pitchFamily="34" charset="-120"/>
              </a:rPr>
              <a:t>Audience:</a:t>
            </a:r>
            <a:r>
              <a:rPr lang="en-US" sz="1400" dirty="0">
                <a:solidFill>
                  <a:srgbClr val="2B1D16"/>
                </a:solidFill>
                <a:latin typeface="Inter" pitchFamily="34" charset="0"/>
                <a:ea typeface="Inter" pitchFamily="34" charset="-122"/>
                <a:cs typeface="Inter" pitchFamily="34" charset="-120"/>
              </a:rPr>
              <a:t> the CEO. </a:t>
            </a:r>
            <a:r>
              <a:rPr lang="en-US" sz="1400" b="1" dirty="0">
                <a:solidFill>
                  <a:srgbClr val="2B1D16"/>
                </a:solidFill>
                <a:latin typeface="Inter" pitchFamily="34" charset="0"/>
                <a:ea typeface="Inter" pitchFamily="34" charset="-122"/>
                <a:cs typeface="Inter" pitchFamily="34" charset="-120"/>
              </a:rPr>
              <a:t>Question:</a:t>
            </a:r>
            <a:r>
              <a:rPr lang="en-US" sz="1400" dirty="0">
                <a:solidFill>
                  <a:srgbClr val="2B1D16"/>
                </a:solidFill>
                <a:latin typeface="Inter" pitchFamily="34" charset="0"/>
                <a:ea typeface="Inter" pitchFamily="34" charset="-122"/>
                <a:cs typeface="Inter" pitchFamily="34" charset="-120"/>
              </a:rPr>
              <a:t> can we start growing next year? </a:t>
            </a:r>
            <a:r>
              <a:rPr lang="en-US" sz="1400" b="1" dirty="0">
                <a:solidFill>
                  <a:srgbClr val="2B1D16"/>
                </a:solidFill>
                <a:latin typeface="Inter" pitchFamily="34" charset="0"/>
                <a:ea typeface="Inter" pitchFamily="34" charset="-122"/>
                <a:cs typeface="Inter" pitchFamily="34" charset="-120"/>
              </a:rPr>
              <a:t>Our job:</a:t>
            </a:r>
            <a:r>
              <a:rPr lang="en-US" sz="1400" dirty="0">
                <a:solidFill>
                  <a:srgbClr val="2B1D16"/>
                </a:solidFill>
                <a:latin typeface="Inter" pitchFamily="34" charset="0"/>
                <a:ea typeface="Inter" pitchFamily="34" charset="-122"/>
                <a:cs typeface="Inter" pitchFamily="34" charset="-120"/>
              </a:rPr>
              <a:t> measure each part of the operation, find roadblocks, advise.</a:t>
            </a:r>
            <a:endParaRPr lang="en-US" sz="1400" dirty="0"/>
          </a:p>
        </p:txBody>
      </p:sp>
      <p:sp>
        <p:nvSpPr>
          <p:cNvPr id="6" name="Shape 4"/>
          <p:cNvSpPr/>
          <p:nvPr/>
        </p:nvSpPr>
        <p:spPr>
          <a:xfrm>
            <a:off x="812800" y="3364046"/>
            <a:ext cx="1991320" cy="1280054"/>
          </a:xfrm>
          <a:prstGeom prst="roundRect">
            <a:avLst>
              <a:gd name="adj" fmla="val 6945"/>
            </a:avLst>
          </a:prstGeom>
          <a:solidFill>
            <a:srgbClr val="FFFDF9"/>
          </a:solidFill>
          <a:ln/>
        </p:spPr>
      </p:sp>
      <p:sp>
        <p:nvSpPr>
          <p:cNvPr id="7" name="Text 5"/>
          <p:cNvSpPr/>
          <p:nvPr/>
        </p:nvSpPr>
        <p:spPr>
          <a:xfrm>
            <a:off x="990600" y="3541846"/>
            <a:ext cx="16865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1D16"/>
                </a:solidFill>
                <a:latin typeface="Inter" pitchFamily="34" charset="0"/>
                <a:ea typeface="Inter" pitchFamily="34" charset="-122"/>
                <a:cs typeface="Inter" pitchFamily="34" charset="-120"/>
              </a:rPr>
              <a:t>Sourcing</a:t>
            </a:r>
            <a:endParaRPr lang="en-US" sz="1300" dirty="0"/>
          </a:p>
        </p:txBody>
      </p:sp>
      <p:sp>
        <p:nvSpPr>
          <p:cNvPr id="8" name="Text 6"/>
          <p:cNvSpPr/>
          <p:nvPr/>
        </p:nvSpPr>
        <p:spPr>
          <a:xfrm>
            <a:off x="990600" y="3849159"/>
            <a:ext cx="168652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534C"/>
                </a:solidFill>
                <a:latin typeface="Inter" pitchFamily="34" charset="0"/>
                <a:ea typeface="Inter" pitchFamily="34" charset="-122"/>
                <a:cs typeface="Inter" pitchFamily="34" charset="-120"/>
              </a:rPr>
              <a:t>Days of beans in stock · expired beans</a:t>
            </a:r>
            <a:endParaRPr lang="en-US" sz="1200" dirty="0"/>
          </a:p>
        </p:txBody>
      </p:sp>
      <p:sp>
        <p:nvSpPr>
          <p:cNvPr id="9" name="Shape 7"/>
          <p:cNvSpPr/>
          <p:nvPr/>
        </p:nvSpPr>
        <p:spPr>
          <a:xfrm>
            <a:off x="2956520" y="3364046"/>
            <a:ext cx="1991387" cy="1280054"/>
          </a:xfrm>
          <a:prstGeom prst="roundRect">
            <a:avLst>
              <a:gd name="adj" fmla="val 6945"/>
            </a:avLst>
          </a:prstGeom>
          <a:solidFill>
            <a:srgbClr val="FFFDF9"/>
          </a:solidFill>
          <a:ln/>
        </p:spPr>
      </p:sp>
      <p:sp>
        <p:nvSpPr>
          <p:cNvPr id="10" name="Text 8"/>
          <p:cNvSpPr/>
          <p:nvPr/>
        </p:nvSpPr>
        <p:spPr>
          <a:xfrm>
            <a:off x="3134320" y="3541846"/>
            <a:ext cx="1686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1D16"/>
                </a:solidFill>
                <a:latin typeface="Inter" pitchFamily="34" charset="0"/>
                <a:ea typeface="Inter" pitchFamily="34" charset="-122"/>
                <a:cs typeface="Inter" pitchFamily="34" charset="-120"/>
              </a:rPr>
              <a:t>Roasting</a:t>
            </a:r>
            <a:endParaRPr lang="en-US" sz="1300" dirty="0"/>
          </a:p>
        </p:txBody>
      </p:sp>
      <p:sp>
        <p:nvSpPr>
          <p:cNvPr id="11" name="Text 9"/>
          <p:cNvSpPr/>
          <p:nvPr/>
        </p:nvSpPr>
        <p:spPr>
          <a:xfrm>
            <a:off x="3134320" y="3849159"/>
            <a:ext cx="1686587"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534C"/>
                </a:solidFill>
                <a:latin typeface="Inter" pitchFamily="34" charset="0"/>
                <a:ea typeface="Inter" pitchFamily="34" charset="-122"/>
                <a:cs typeface="Inter" pitchFamily="34" charset="-120"/>
              </a:rPr>
              <a:t>Hours used · throughput · QC rejects · yield</a:t>
            </a:r>
            <a:endParaRPr lang="en-US" sz="1200" dirty="0"/>
          </a:p>
        </p:txBody>
      </p:sp>
      <p:sp>
        <p:nvSpPr>
          <p:cNvPr id="12" name="Shape 10"/>
          <p:cNvSpPr/>
          <p:nvPr/>
        </p:nvSpPr>
        <p:spPr>
          <a:xfrm>
            <a:off x="5100307" y="3364046"/>
            <a:ext cx="1991320" cy="1280054"/>
          </a:xfrm>
          <a:prstGeom prst="roundRect">
            <a:avLst>
              <a:gd name="adj" fmla="val 6945"/>
            </a:avLst>
          </a:prstGeom>
          <a:solidFill>
            <a:srgbClr val="FFFDF9"/>
          </a:solidFill>
          <a:ln/>
        </p:spPr>
      </p:sp>
      <p:sp>
        <p:nvSpPr>
          <p:cNvPr id="13" name="Text 11"/>
          <p:cNvSpPr/>
          <p:nvPr/>
        </p:nvSpPr>
        <p:spPr>
          <a:xfrm>
            <a:off x="5278107" y="3541846"/>
            <a:ext cx="16865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1D16"/>
                </a:solidFill>
                <a:latin typeface="Inter" pitchFamily="34" charset="0"/>
                <a:ea typeface="Inter" pitchFamily="34" charset="-122"/>
                <a:cs typeface="Inter" pitchFamily="34" charset="-120"/>
              </a:rPr>
              <a:t>Packing &amp; stock</a:t>
            </a:r>
            <a:endParaRPr lang="en-US" sz="1300" dirty="0"/>
          </a:p>
        </p:txBody>
      </p:sp>
      <p:sp>
        <p:nvSpPr>
          <p:cNvPr id="14" name="Text 12"/>
          <p:cNvSpPr/>
          <p:nvPr/>
        </p:nvSpPr>
        <p:spPr>
          <a:xfrm>
            <a:off x="5278107" y="3849159"/>
            <a:ext cx="168652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534C"/>
                </a:solidFill>
                <a:latin typeface="Inter" pitchFamily="34" charset="0"/>
                <a:ea typeface="Inter" pitchFamily="34" charset="-122"/>
                <a:cs typeface="Inter" pitchFamily="34" charset="-120"/>
              </a:rPr>
              <a:t>Packing hours · days of cover · expired coffee</a:t>
            </a:r>
            <a:endParaRPr lang="en-US" sz="1200" dirty="0"/>
          </a:p>
        </p:txBody>
      </p:sp>
      <p:sp>
        <p:nvSpPr>
          <p:cNvPr id="15" name="Shape 13"/>
          <p:cNvSpPr/>
          <p:nvPr/>
        </p:nvSpPr>
        <p:spPr>
          <a:xfrm>
            <a:off x="7244028" y="3364046"/>
            <a:ext cx="1991387" cy="1280054"/>
          </a:xfrm>
          <a:prstGeom prst="roundRect">
            <a:avLst>
              <a:gd name="adj" fmla="val 6945"/>
            </a:avLst>
          </a:prstGeom>
          <a:solidFill>
            <a:srgbClr val="FFFDF9"/>
          </a:solidFill>
          <a:ln/>
        </p:spPr>
      </p:sp>
      <p:sp>
        <p:nvSpPr>
          <p:cNvPr id="16" name="Text 14"/>
          <p:cNvSpPr/>
          <p:nvPr/>
        </p:nvSpPr>
        <p:spPr>
          <a:xfrm>
            <a:off x="7421828" y="3541846"/>
            <a:ext cx="1686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1D16"/>
                </a:solidFill>
                <a:latin typeface="Inter" pitchFamily="34" charset="0"/>
                <a:ea typeface="Inter" pitchFamily="34" charset="-122"/>
                <a:cs typeface="Inter" pitchFamily="34" charset="-120"/>
              </a:rPr>
              <a:t>Sales</a:t>
            </a:r>
            <a:endParaRPr lang="en-US" sz="1300" dirty="0"/>
          </a:p>
        </p:txBody>
      </p:sp>
      <p:sp>
        <p:nvSpPr>
          <p:cNvPr id="17" name="Text 15"/>
          <p:cNvSpPr/>
          <p:nvPr/>
        </p:nvSpPr>
        <p:spPr>
          <a:xfrm>
            <a:off x="7421828" y="3849159"/>
            <a:ext cx="16865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534C"/>
                </a:solidFill>
                <a:latin typeface="Inter" pitchFamily="34" charset="0"/>
                <a:ea typeface="Inter" pitchFamily="34" charset="-122"/>
                <a:cs typeface="Inter" pitchFamily="34" charset="-120"/>
              </a:rPr>
              <a:t>Orders per day · kg per order · revenue</a:t>
            </a:r>
            <a:endParaRPr lang="en-US" sz="1200" dirty="0"/>
          </a:p>
        </p:txBody>
      </p:sp>
      <p:sp>
        <p:nvSpPr>
          <p:cNvPr id="18" name="Shape 16"/>
          <p:cNvSpPr/>
          <p:nvPr/>
        </p:nvSpPr>
        <p:spPr>
          <a:xfrm>
            <a:off x="9387814" y="3364046"/>
            <a:ext cx="1991387" cy="1280054"/>
          </a:xfrm>
          <a:prstGeom prst="roundRect">
            <a:avLst>
              <a:gd name="adj" fmla="val 6945"/>
            </a:avLst>
          </a:prstGeom>
          <a:solidFill>
            <a:srgbClr val="FFFDF9"/>
          </a:solidFill>
          <a:ln/>
        </p:spPr>
      </p:sp>
      <p:sp>
        <p:nvSpPr>
          <p:cNvPr id="19" name="Text 17"/>
          <p:cNvSpPr/>
          <p:nvPr/>
        </p:nvSpPr>
        <p:spPr>
          <a:xfrm>
            <a:off x="9565614" y="3541846"/>
            <a:ext cx="16865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1D16"/>
                </a:solidFill>
                <a:latin typeface="Inter" pitchFamily="34" charset="0"/>
                <a:ea typeface="Inter" pitchFamily="34" charset="-122"/>
                <a:cs typeface="Inter" pitchFamily="34" charset="-120"/>
              </a:rPr>
              <a:t>Delivery</a:t>
            </a:r>
            <a:endParaRPr lang="en-US" sz="1300" dirty="0"/>
          </a:p>
        </p:txBody>
      </p:sp>
      <p:sp>
        <p:nvSpPr>
          <p:cNvPr id="20" name="Text 18"/>
          <p:cNvSpPr/>
          <p:nvPr/>
        </p:nvSpPr>
        <p:spPr>
          <a:xfrm>
            <a:off x="9565614" y="3849159"/>
            <a:ext cx="168658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C534C"/>
                </a:solidFill>
                <a:latin typeface="Inter" pitchFamily="34" charset="0"/>
                <a:ea typeface="Inter" pitchFamily="34" charset="-122"/>
                <a:cs typeface="Inter" pitchFamily="34" charset="-120"/>
              </a:rPr>
              <a:t>On-time rate · correct fees · shipping cost</a:t>
            </a:r>
            <a:endParaRPr lang="en-US" sz="1200" dirty="0"/>
          </a:p>
        </p:txBody>
      </p:sp>
      <p:sp>
        <p:nvSpPr>
          <p:cNvPr id="21" name="Text 19"/>
          <p:cNvSpPr/>
          <p:nvPr/>
        </p:nvSpPr>
        <p:spPr>
          <a:xfrm>
            <a:off x="812800" y="494889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Value chain of the company with the KPIs we measured per step → each step gets a score on the next slides</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company profile (case description)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CRISP-DM 2–3 · DATA UNDERSTANDING &amp; PREPARATION</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The data is complete and consistent, except for packaging stock</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47835"/>
          <a:ext cx="10553700" cy="2386939"/>
        </p:xfrm>
        <a:graphic>
          <a:graphicData uri="http://schemas.openxmlformats.org/drawingml/2006/table">
            <a:tbl>
              <a:tblPr/>
              <a:tblGrid>
                <a:gridCol w="2532888"/>
                <a:gridCol w="1266444"/>
                <a:gridCol w="3799332"/>
                <a:gridCol w="2955036"/>
              </a:tblGrid>
              <a:tr h="359304">
                <a:tc>
                  <a:txBody>
                    <a:bodyPr/>
                    <a:lstStyle/>
                    <a:p>
                      <a:pPr indent="0" marL="0">
                        <a:lnSpc>
                          <a:spcPts val="1820"/>
                        </a:lnSpc>
                        <a:buNone/>
                      </a:pPr>
                      <a:r>
                        <a:rPr lang="en-US" sz="1300" b="1" dirty="0">
                          <a:solidFill>
                            <a:srgbClr val="2B1D16"/>
                          </a:solidFill>
                          <a:latin typeface="Inter" pitchFamily="34" charset="0"/>
                          <a:ea typeface="Inter" pitchFamily="34" charset="-122"/>
                          <a:cs typeface="Inter" pitchFamily="34" charset="-120"/>
                        </a:rPr>
                        <a:t>Dataset (2023)</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1ACA3"/>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1ACA3"/>
                      </a:solidFill>
                      <a:prstDash val="solid"/>
                      <a:round/>
                      <a:headEnd type="none" w="med" len="med"/>
                      <a:tailEnd type="none" w="med" len="med"/>
                    </a:lnB>
                    <a:solidFill>
                      <a:srgbClr val="DDD7CC"/>
                    </a:solidFill>
                  </a:tcPr>
                </a:tc>
                <a:tc>
                  <a:txBody>
                    <a:bodyPr/>
                    <a:lstStyle/>
                    <a:p>
                      <a:pPr algn="r" indent="0" marL="0">
                        <a:lnSpc>
                          <a:spcPts val="1820"/>
                        </a:lnSpc>
                        <a:buNone/>
                      </a:pPr>
                      <a:r>
                        <a:rPr lang="en-US" sz="1300" b="1" dirty="0">
                          <a:solidFill>
                            <a:srgbClr val="2B1D16"/>
                          </a:solidFill>
                          <a:latin typeface="Inter" pitchFamily="34" charset="0"/>
                          <a:ea typeface="Inter" pitchFamily="34" charset="-122"/>
                          <a:cs typeface="Inter" pitchFamily="34" charset="-120"/>
                        </a:rPr>
                        <a:t>Rows</a:t>
                      </a:r>
                      <a:endParaRPr lang="en-US" sz="1300" dirty="0">
                        <a:latin typeface="Inter" charset="0"/>
                        <a:ea typeface="Inter" charset="0"/>
                        <a:cs typeface="Inter" charset="0"/>
                      </a:endParaRPr>
                    </a:p>
                  </a:txBody>
                  <a:tcPr marL="57785" marR="57785" marT="57785" marB="57785" anchor="t">
                    <a:lnL w="12700" cap="flat" cmpd="sng" algn="ctr">
                      <a:solidFill>
                        <a:srgbClr val="B1ACA3"/>
                      </a:solidFill>
                      <a:prstDash val="solid"/>
                      <a:round/>
                      <a:headEnd type="none" w="med" len="med"/>
                      <a:tailEnd type="none" w="med" len="med"/>
                    </a:lnL>
                    <a:lnR w="12700" cap="flat" cmpd="sng" algn="ctr">
                      <a:solidFill>
                        <a:srgbClr val="B1ACA3"/>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1ACA3"/>
                      </a:solidFill>
                      <a:prstDash val="solid"/>
                      <a:round/>
                      <a:headEnd type="none" w="med" len="med"/>
                      <a:tailEnd type="none" w="med" len="med"/>
                    </a:lnB>
                    <a:solidFill>
                      <a:srgbClr val="DDD7CC"/>
                    </a:solidFill>
                  </a:tcPr>
                </a:tc>
                <a:tc>
                  <a:txBody>
                    <a:bodyPr/>
                    <a:lstStyle/>
                    <a:p>
                      <a:pPr indent="0" marL="0">
                        <a:lnSpc>
                          <a:spcPts val="1820"/>
                        </a:lnSpc>
                        <a:buNone/>
                      </a:pPr>
                      <a:r>
                        <a:rPr lang="en-US" sz="1300" b="1" dirty="0">
                          <a:solidFill>
                            <a:srgbClr val="2B1D16"/>
                          </a:solidFill>
                          <a:latin typeface="Inter" pitchFamily="34" charset="0"/>
                          <a:ea typeface="Inter" pitchFamily="34" charset="-122"/>
                          <a:cs typeface="Inter" pitchFamily="34" charset="-120"/>
                        </a:rPr>
                        <a:t>What it tells us</a:t>
                      </a:r>
                      <a:endParaRPr lang="en-US" sz="1300" dirty="0">
                        <a:latin typeface="Inter" charset="0"/>
                        <a:ea typeface="Inter" charset="0"/>
                        <a:cs typeface="Inter" charset="0"/>
                      </a:endParaRPr>
                    </a:p>
                  </a:txBody>
                  <a:tcPr marL="57785" marR="57785" marT="57785" marB="57785" anchor="t">
                    <a:lnL w="12700" cap="flat" cmpd="sng" algn="ctr">
                      <a:solidFill>
                        <a:srgbClr val="B1ACA3"/>
                      </a:solidFill>
                      <a:prstDash val="solid"/>
                      <a:round/>
                      <a:headEnd type="none" w="med" len="med"/>
                      <a:tailEnd type="none" w="med" len="med"/>
                    </a:lnL>
                    <a:lnR w="12700" cap="flat" cmpd="sng" algn="ctr">
                      <a:solidFill>
                        <a:srgbClr val="B1ACA3"/>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1ACA3"/>
                      </a:solidFill>
                      <a:prstDash val="solid"/>
                      <a:round/>
                      <a:headEnd type="none" w="med" len="med"/>
                      <a:tailEnd type="none" w="med" len="med"/>
                    </a:lnB>
                    <a:solidFill>
                      <a:srgbClr val="DDD7CC"/>
                    </a:solidFill>
                  </a:tcPr>
                </a:tc>
                <a:tc>
                  <a:txBody>
                    <a:bodyPr/>
                    <a:lstStyle/>
                    <a:p>
                      <a:pPr indent="0" marL="0">
                        <a:lnSpc>
                          <a:spcPts val="1820"/>
                        </a:lnSpc>
                        <a:buNone/>
                      </a:pPr>
                      <a:r>
                        <a:rPr lang="en-US" sz="1300" b="1" dirty="0">
                          <a:solidFill>
                            <a:srgbClr val="2B1D16"/>
                          </a:solidFill>
                          <a:latin typeface="Inter" pitchFamily="34" charset="0"/>
                          <a:ea typeface="Inter" pitchFamily="34" charset="-122"/>
                          <a:cs typeface="Inter" pitchFamily="34" charset="-120"/>
                        </a:rPr>
                        <a:t>Our check</a:t>
                      </a:r>
                      <a:endParaRPr lang="en-US" sz="1300" dirty="0">
                        <a:latin typeface="Inter" charset="0"/>
                        <a:ea typeface="Inter" charset="0"/>
                        <a:cs typeface="Inter" charset="0"/>
                      </a:endParaRPr>
                    </a:p>
                  </a:txBody>
                  <a:tcPr marL="57785" marR="57785" marT="57785" marB="57785" anchor="t">
                    <a:lnL w="12700" cap="flat" cmpd="sng" algn="ctr">
                      <a:solidFill>
                        <a:srgbClr val="B1ACA3"/>
                      </a:solidFill>
                      <a:prstDash val="solid"/>
                      <a:round/>
                      <a:headEnd type="none" w="med" len="med"/>
                      <a:tailEnd type="none" w="med" len="med"/>
                    </a:lnL>
                    <a:lnR w="12700" cap="flat" cmpd="sng" algn="ctr">
                      <a:solidFill>
                        <a:srgbClr val="B1ACA3"/>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1ACA3"/>
                      </a:solidFill>
                      <a:prstDash val="solid"/>
                      <a:round/>
                      <a:headEnd type="none" w="med" len="med"/>
                      <a:tailEnd type="none" w="med" len="med"/>
                    </a:lnB>
                    <a:solidFill>
                      <a:srgbClr val="DDD7CC"/>
                    </a:solidFill>
                  </a:tcPr>
                </a:tc>
              </a:tr>
              <a:tr h="359304">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E-com sales orders</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1ACA3"/>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algn="r" indent="0" marL="0">
                        <a:lnSpc>
                          <a:spcPts val="1820"/>
                        </a:lnSpc>
                        <a:buNone/>
                      </a:pPr>
                      <a:r>
                        <a:rPr lang="en-US" sz="1300" dirty="0">
                          <a:solidFill>
                            <a:srgbClr val="2B1D16"/>
                          </a:solidFill>
                          <a:latin typeface="Inter" pitchFamily="34" charset="0"/>
                          <a:ea typeface="Inter" pitchFamily="34" charset="-122"/>
                          <a:cs typeface="Inter" pitchFamily="34" charset="-120"/>
                        </a:rPr>
                        <a:t>240,352</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1ACA3"/>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1 row per order: roast, bag, value, dates, fee</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1ACA3"/>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Complete, no missing values</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1ACA3"/>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59304">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B2B orders</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algn="r" indent="0" marL="0">
                        <a:lnSpc>
                          <a:spcPts val="1820"/>
                        </a:lnSpc>
                        <a:buNone/>
                      </a:pPr>
                      <a:r>
                        <a:rPr lang="en-US" sz="1300" dirty="0">
                          <a:solidFill>
                            <a:srgbClr val="2B1D16"/>
                          </a:solidFill>
                          <a:latin typeface="Inter" pitchFamily="34" charset="0"/>
                          <a:ea typeface="Inter" pitchFamily="34" charset="-122"/>
                          <a:cs typeface="Inter" pitchFamily="34" charset="-120"/>
                        </a:rPr>
                        <a:t>273</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21 office clients, delivery every 4 weeks</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Complete</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590418">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Roasting</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algn="r" indent="0" marL="0">
                        <a:lnSpc>
                          <a:spcPts val="1820"/>
                        </a:lnSpc>
                        <a:buNone/>
                      </a:pPr>
                      <a:r>
                        <a:rPr lang="en-US" sz="1300" dirty="0">
                          <a:solidFill>
                            <a:srgbClr val="2B1D16"/>
                          </a:solidFill>
                          <a:latin typeface="Inter" pitchFamily="34" charset="0"/>
                          <a:ea typeface="Inter" pitchFamily="34" charset="-122"/>
                          <a:cs typeface="Inter" pitchFamily="34" charset="-120"/>
                        </a:rPr>
                        <a:t>36</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Batches, times and QC per machine, roast, month</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Bean use matches stock: ✓</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59304">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Finished goods stock</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algn="r" indent="0" marL="0">
                        <a:lnSpc>
                          <a:spcPts val="1820"/>
                        </a:lnSpc>
                        <a:buNone/>
                      </a:pPr>
                      <a:r>
                        <a:rPr lang="en-US" sz="1300" dirty="0">
                          <a:solidFill>
                            <a:srgbClr val="2B1D16"/>
                          </a:solidFill>
                          <a:latin typeface="Inter" pitchFamily="34" charset="0"/>
                          <a:ea typeface="Inter" pitchFamily="34" charset="-122"/>
                          <a:cs typeface="Inter" pitchFamily="34" charset="-120"/>
                        </a:rPr>
                        <a:t>36</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Stock and scrap per roast per month</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Stock = roasted − sold − scrap: ✓</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59304">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Raw material stock</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algn="r" indent="0" marL="0">
                        <a:lnSpc>
                          <a:spcPts val="1820"/>
                        </a:lnSpc>
                        <a:buNone/>
                      </a:pPr>
                      <a:r>
                        <a:rPr lang="en-US" sz="1300" dirty="0">
                          <a:solidFill>
                            <a:srgbClr val="2B1D16"/>
                          </a:solidFill>
                          <a:latin typeface="Inter" pitchFamily="34" charset="0"/>
                          <a:ea typeface="Inter" pitchFamily="34" charset="-122"/>
                          <a:cs typeface="Inter" pitchFamily="34" charset="-120"/>
                        </a:rPr>
                        <a:t>72</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2B1D16"/>
                          </a:solidFill>
                          <a:latin typeface="Inter" pitchFamily="34" charset="0"/>
                          <a:ea typeface="Inter" pitchFamily="34" charset="-122"/>
                          <a:cs typeface="Inter" pitchFamily="34" charset="-120"/>
                        </a:rPr>
                        <a:t>Beans, bags, boxes: stock, purchases, scrap</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820"/>
                        </a:lnSpc>
                        <a:buNone/>
                      </a:pPr>
                      <a:r>
                        <a:rPr lang="en-US" sz="1300" dirty="0">
                          <a:solidFill>
                            <a:srgbClr val="B04A14"/>
                          </a:solidFill>
                          <a:latin typeface="Inter" pitchFamily="34" charset="0"/>
                          <a:ea typeface="Inter" pitchFamily="34" charset="-122"/>
                          <a:cs typeface="Inter" pitchFamily="34" charset="-120"/>
                        </a:rPr>
                        <a:t>Bags do not match sales: ✗</a:t>
                      </a:r>
                      <a:endParaRPr lang="en-US" sz="1300" dirty="0">
                        <a:latin typeface="Inter" charset="0"/>
                        <a:ea typeface="Inter" charset="0"/>
                        <a:cs typeface="Inter" charset="0"/>
                      </a:endParaRPr>
                    </a:p>
                  </a:txBody>
                  <a:tcPr marL="57785" marR="57785" marT="57785" marB="57785"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bl>
          </a:graphicData>
        </a:graphic>
      </p:graphicFrame>
      <p:sp>
        <p:nvSpPr>
          <p:cNvPr id="5" name="Text 2"/>
          <p:cNvSpPr/>
          <p:nvPr/>
        </p:nvSpPr>
        <p:spPr>
          <a:xfrm>
            <a:off x="812800" y="4888773"/>
            <a:ext cx="10883392"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C534C"/>
                </a:solidFill>
                <a:latin typeface="Inter" pitchFamily="34" charset="0"/>
                <a:ea typeface="Inter" pitchFamily="34" charset="-122"/>
                <a:cs typeface="Inter" pitchFamily="34" charset="-120"/>
              </a:rPr>
              <a:t>Preparation: bag type 1 = 1 kg and type 2 = 0.5 kg (derived from prices) · sales converted to kg · delivery promise = next working day. </a:t>
            </a:r>
            <a:r>
              <a:rPr lang="en-US" sz="1300" b="1" dirty="0">
                <a:solidFill>
                  <a:srgbClr val="2B1D16"/>
                </a:solidFill>
                <a:latin typeface="Inter" pitchFamily="34" charset="0"/>
                <a:ea typeface="Inter" pitchFamily="34" charset="-122"/>
                <a:cs typeface="Inter" pitchFamily="34" charset="-120"/>
              </a:rPr>
              <a:t>Data issue:</a:t>
            </a:r>
            <a:r>
              <a:rPr lang="en-US" sz="1300" dirty="0">
                <a:solidFill>
                  <a:srgbClr val="5C534C"/>
                </a:solidFill>
                <a:latin typeface="Inter" pitchFamily="34" charset="0"/>
                <a:ea typeface="Inter" pitchFamily="34" charset="-122"/>
                <a:cs typeface="Inter" pitchFamily="34" charset="-120"/>
              </a:rPr>
              <a:t> stock records show ~15k half-kilo bags used per month while ~83k are sold, so packaging stock cannot be trusted.</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Bean there done that dataset, 5 sheets, Jan–Dec 2023 · analysis in Python (pandas, matplotlib)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26417"/>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C4561B"/>
                </a:solidFill>
                <a:latin typeface="Inter" pitchFamily="34" charset="0"/>
                <a:ea typeface="Inter" pitchFamily="34" charset="-122"/>
                <a:cs typeface="Inter" pitchFamily="34" charset="-120"/>
              </a:rPr>
              <a:t>CRISP-DM 4 · KPI SCORECARD 2023</a:t>
            </a:r>
            <a:endParaRPr lang="en-US" sz="1159" dirty="0"/>
          </a:p>
        </p:txBody>
      </p:sp>
      <p:sp>
        <p:nvSpPr>
          <p:cNvPr id="3" name="Text 1"/>
          <p:cNvSpPr/>
          <p:nvPr>
            <p:ph type="title"/>
          </p:nvPr>
        </p:nvSpPr>
        <p:spPr>
          <a:xfrm>
            <a:off x="812800" y="1115417"/>
            <a:ext cx="10883392" cy="427368"/>
          </a:xfrm>
          <a:prstGeom prst="rect">
            <a:avLst/>
          </a:prstGeom>
          <a:noFill/>
          <a:ln/>
        </p:spPr>
        <p:txBody>
          <a:bodyPr wrap="square" lIns="0" tIns="0" rIns="0" bIns="0" rtlCol="0" anchor="t">
            <a:normAutofit/>
          </a:bodyPr>
          <a:lstStyle/>
          <a:p>
            <a:pPr algn="l" indent="0" marL="0">
              <a:lnSpc>
                <a:spcPts val="3171"/>
              </a:lnSpc>
              <a:buNone/>
            </a:pPr>
            <a:r>
              <a:rPr lang="en-US" sz="2643" b="1" i="0" dirty="0">
                <a:solidFill>
                  <a:srgbClr val="2B1D16"/>
                </a:solidFill>
                <a:latin typeface="Libre Baskerville" pitchFamily="18" charset="0"/>
                <a:ea typeface="Libre Baskerville" pitchFamily="18" charset="-122"/>
                <a:cs typeface="Libre Baskerville" pitchFamily="18" charset="-120"/>
              </a:rPr>
              <a:t>Sales are stable, but four of five operations score red</a:t>
            </a:r>
            <a:endParaRPr lang="en-US" sz="2643"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3286"/>
          <a:ext cx="10553700" cy="4108715"/>
        </p:xfrm>
        <a:graphic>
          <a:graphicData uri="http://schemas.openxmlformats.org/drawingml/2006/table">
            <a:tbl>
              <a:tblPr/>
              <a:tblGrid>
                <a:gridCol w="1794129"/>
                <a:gridCol w="3799332"/>
                <a:gridCol w="3060573"/>
                <a:gridCol w="1899666"/>
              </a:tblGrid>
              <a:tr h="316045">
                <a:tc>
                  <a:txBody>
                    <a:bodyPr/>
                    <a:lstStyle/>
                    <a:p>
                      <a:pPr indent="0" marL="0">
                        <a:lnSpc>
                          <a:spcPts val="1591"/>
                        </a:lnSpc>
                        <a:buNone/>
                      </a:pPr>
                      <a:r>
                        <a:rPr lang="en-US" sz="1136" b="1" dirty="0">
                          <a:solidFill>
                            <a:srgbClr val="2B1D16"/>
                          </a:solidFill>
                          <a:latin typeface="Inter" pitchFamily="34" charset="0"/>
                          <a:ea typeface="Inter" pitchFamily="34" charset="-122"/>
                          <a:cs typeface="Inter" pitchFamily="34" charset="-120"/>
                        </a:rPr>
                        <a:t>Operation</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B7B4A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7B4AF"/>
                      </a:solidFill>
                      <a:prstDash val="solid"/>
                      <a:round/>
                      <a:headEnd type="none" w="med" len="med"/>
                      <a:tailEnd type="none" w="med" len="med"/>
                    </a:lnB>
                    <a:solidFill>
                      <a:srgbClr val="E5E1DB"/>
                    </a:solidFill>
                  </a:tcPr>
                </a:tc>
                <a:tc>
                  <a:txBody>
                    <a:bodyPr/>
                    <a:lstStyle/>
                    <a:p>
                      <a:pPr indent="0" marL="0">
                        <a:lnSpc>
                          <a:spcPts val="1591"/>
                        </a:lnSpc>
                        <a:buNone/>
                      </a:pPr>
                      <a:r>
                        <a:rPr lang="en-US" sz="1136" b="1" dirty="0">
                          <a:solidFill>
                            <a:srgbClr val="2B1D16"/>
                          </a:solidFill>
                          <a:latin typeface="Inter" pitchFamily="34" charset="0"/>
                          <a:ea typeface="Inter" pitchFamily="34" charset="-122"/>
                          <a:cs typeface="Inter" pitchFamily="34" charset="-120"/>
                        </a:rPr>
                        <a:t>KPI</a:t>
                      </a:r>
                      <a:endParaRPr lang="en-US" sz="1136" dirty="0">
                        <a:latin typeface="Inter" charset="0"/>
                        <a:ea typeface="Inter" charset="0"/>
                        <a:cs typeface="Inter" charset="0"/>
                      </a:endParaRPr>
                    </a:p>
                  </a:txBody>
                  <a:tcPr marL="50506" marR="50506" marT="50506" marB="50506" anchor="t">
                    <a:lnL w="12700" cap="flat" cmpd="sng" algn="ctr">
                      <a:solidFill>
                        <a:srgbClr val="B7B4AF"/>
                      </a:solidFill>
                      <a:prstDash val="solid"/>
                      <a:round/>
                      <a:headEnd type="none" w="med" len="med"/>
                      <a:tailEnd type="none" w="med" len="med"/>
                    </a:lnL>
                    <a:lnR w="12700" cap="flat" cmpd="sng" algn="ctr">
                      <a:solidFill>
                        <a:srgbClr val="B7B4A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7B4AF"/>
                      </a:solidFill>
                      <a:prstDash val="solid"/>
                      <a:round/>
                      <a:headEnd type="none" w="med" len="med"/>
                      <a:tailEnd type="none" w="med" len="med"/>
                    </a:lnB>
                    <a:solidFill>
                      <a:srgbClr val="E5E1DB"/>
                    </a:solidFill>
                  </a:tcPr>
                </a:tc>
                <a:tc>
                  <a:txBody>
                    <a:bodyPr/>
                    <a:lstStyle/>
                    <a:p>
                      <a:pPr indent="0" marL="0">
                        <a:lnSpc>
                          <a:spcPts val="1591"/>
                        </a:lnSpc>
                        <a:buNone/>
                      </a:pPr>
                      <a:r>
                        <a:rPr lang="en-US" sz="1136" b="1" dirty="0">
                          <a:solidFill>
                            <a:srgbClr val="2B1D16"/>
                          </a:solidFill>
                          <a:latin typeface="Inter" pitchFamily="34" charset="0"/>
                          <a:ea typeface="Inter" pitchFamily="34" charset="-122"/>
                          <a:cs typeface="Inter" pitchFamily="34" charset="-120"/>
                        </a:rPr>
                        <a:t>2023</a:t>
                      </a:r>
                      <a:endParaRPr lang="en-US" sz="1136" dirty="0">
                        <a:latin typeface="Inter" charset="0"/>
                        <a:ea typeface="Inter" charset="0"/>
                        <a:cs typeface="Inter" charset="0"/>
                      </a:endParaRPr>
                    </a:p>
                  </a:txBody>
                  <a:tcPr marL="50506" marR="50506" marT="50506" marB="50506" anchor="t">
                    <a:lnL w="12700" cap="flat" cmpd="sng" algn="ctr">
                      <a:solidFill>
                        <a:srgbClr val="B7B4AF"/>
                      </a:solidFill>
                      <a:prstDash val="solid"/>
                      <a:round/>
                      <a:headEnd type="none" w="med" len="med"/>
                      <a:tailEnd type="none" w="med" len="med"/>
                    </a:lnL>
                    <a:lnR w="12700" cap="flat" cmpd="sng" algn="ctr">
                      <a:solidFill>
                        <a:srgbClr val="B7B4A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7B4AF"/>
                      </a:solidFill>
                      <a:prstDash val="solid"/>
                      <a:round/>
                      <a:headEnd type="none" w="med" len="med"/>
                      <a:tailEnd type="none" w="med" len="med"/>
                    </a:lnB>
                    <a:solidFill>
                      <a:srgbClr val="E5E1DB"/>
                    </a:solidFill>
                  </a:tcPr>
                </a:tc>
                <a:tc>
                  <a:txBody>
                    <a:bodyPr/>
                    <a:lstStyle/>
                    <a:p>
                      <a:pPr indent="0" marL="0">
                        <a:lnSpc>
                          <a:spcPts val="1591"/>
                        </a:lnSpc>
                        <a:buNone/>
                      </a:pPr>
                      <a:r>
                        <a:rPr lang="en-US" sz="1136" b="1" dirty="0">
                          <a:solidFill>
                            <a:srgbClr val="2B1D16"/>
                          </a:solidFill>
                          <a:latin typeface="Inter" pitchFamily="34" charset="0"/>
                          <a:ea typeface="Inter" pitchFamily="34" charset="-122"/>
                          <a:cs typeface="Inter" pitchFamily="34" charset="-120"/>
                        </a:rPr>
                        <a:t>Status</a:t>
                      </a:r>
                      <a:endParaRPr lang="en-US" sz="1136" dirty="0">
                        <a:latin typeface="Inter" charset="0"/>
                        <a:ea typeface="Inter" charset="0"/>
                        <a:cs typeface="Inter" charset="0"/>
                      </a:endParaRPr>
                    </a:p>
                  </a:txBody>
                  <a:tcPr marL="50506" marR="50506" marT="50506" marB="50506" anchor="t">
                    <a:lnL w="12700" cap="flat" cmpd="sng" algn="ctr">
                      <a:solidFill>
                        <a:srgbClr val="B7B4AF"/>
                      </a:solidFill>
                      <a:prstDash val="solid"/>
                      <a:round/>
                      <a:headEnd type="none" w="med" len="med"/>
                      <a:tailEnd type="none" w="med" len="med"/>
                    </a:lnL>
                    <a:lnR w="12700" cap="flat" cmpd="sng" algn="ctr">
                      <a:solidFill>
                        <a:srgbClr val="B7B4A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7B4AF"/>
                      </a:solidFill>
                      <a:prstDash val="solid"/>
                      <a:round/>
                      <a:headEnd type="none" w="med" len="med"/>
                      <a:tailEnd type="none" w="med" len="med"/>
                    </a:lnB>
                    <a:solidFill>
                      <a:srgbClr val="E5E1DB"/>
                    </a:solidFill>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Sourcing</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7B4AF"/>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Lowest green bean stock</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7B4AF"/>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7 working days (July)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7B4AF"/>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B04A14"/>
                          </a:solidFill>
                          <a:latin typeface="Inter" pitchFamily="34" charset="0"/>
                          <a:ea typeface="Inter" pitchFamily="34" charset="-122"/>
                          <a:cs typeface="Inter" pitchFamily="34" charset="-120"/>
                        </a:rPr>
                        <a:t>At risk</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7B4AF"/>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Sourcing</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Green beans expired</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5.0 t</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8A6200"/>
                          </a:solidFill>
                          <a:latin typeface="Inter" pitchFamily="34" charset="0"/>
                          <a:ea typeface="Inter" pitchFamily="34" charset="-122"/>
                          <a:cs typeface="Inter" pitchFamily="34" charset="-120"/>
                        </a:rPr>
                        <a:t>Watch</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Roasting</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Machine time used per day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P60 8.0 h · Px120 8.5 h</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B04A14"/>
                          </a:solidFill>
                          <a:latin typeface="Inter" pitchFamily="34" charset="0"/>
                          <a:ea typeface="Inter" pitchFamily="34" charset="-122"/>
                          <a:cs typeface="Inter" pitchFamily="34" charset="-120"/>
                        </a:rPr>
                        <a:t>Full</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Roasting</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Batches rejected by QC</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1.9% (light roast 5.0%)</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8A6200"/>
                          </a:solidFill>
                          <a:latin typeface="Inter" pitchFamily="34" charset="0"/>
                          <a:ea typeface="Inter" pitchFamily="34" charset="-122"/>
                          <a:cs typeface="Inter" pitchFamily="34" charset="-120"/>
                        </a:rPr>
                        <a:t>Watch</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Roasting</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Yield (roasted ÷ green)</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81%</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F6DB5"/>
                          </a:solidFill>
                          <a:latin typeface="Inter" pitchFamily="34" charset="0"/>
                          <a:ea typeface="Inter" pitchFamily="34" charset="-122"/>
                          <a:cs typeface="Inter" pitchFamily="34" charset="-120"/>
                        </a:rPr>
                        <a:t>OK</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Packing &amp; stock</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Packing line time per day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8.3 h</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B04A14"/>
                          </a:solidFill>
                          <a:latin typeface="Inter" pitchFamily="34" charset="0"/>
                          <a:ea typeface="Inter" pitchFamily="34" charset="-122"/>
                          <a:cs typeface="Inter" pitchFamily="34" charset="-120"/>
                        </a:rPr>
                        <a:t>Full</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Packing &amp; stock</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Roasted coffee expired</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48 t = 6.2% of output</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B04A14"/>
                          </a:solidFill>
                          <a:latin typeface="Inter" pitchFamily="34" charset="0"/>
                          <a:ea typeface="Inter" pitchFamily="34" charset="-122"/>
                          <a:cs typeface="Inter" pitchFamily="34" charset="-120"/>
                        </a:rPr>
                        <a:t>Critical</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Sales</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Revenue (e-com + B2B)</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€18.0M (97.7% e-com)</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F6DB5"/>
                          </a:solidFill>
                          <a:latin typeface="Inter" pitchFamily="34" charset="0"/>
                          <a:ea typeface="Inter" pitchFamily="34" charset="-122"/>
                          <a:cs typeface="Inter" pitchFamily="34" charset="-120"/>
                        </a:rPr>
                        <a:t>Stable</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Sales</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Orders per day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658, flat all year</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8A6200"/>
                          </a:solidFill>
                          <a:latin typeface="Inter" pitchFamily="34" charset="0"/>
                          <a:ea typeface="Inter" pitchFamily="34" charset="-122"/>
                          <a:cs typeface="Inter" pitchFamily="34" charset="-120"/>
                        </a:rPr>
                        <a:t>No growth</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045">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Delivery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Delivered next working day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92.1%</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B04A14"/>
                          </a:solidFill>
                          <a:latin typeface="Inter" pitchFamily="34" charset="0"/>
                          <a:ea typeface="Inter" pitchFamily="34" charset="-122"/>
                          <a:cs typeface="Inter" pitchFamily="34" charset="-120"/>
                        </a:rPr>
                        <a:t>Below promise</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111">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Delivery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Orders wrongly charged shipping</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30,725 orders · €152k</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B04A14"/>
                          </a:solidFill>
                          <a:latin typeface="Inter" pitchFamily="34" charset="0"/>
                          <a:ea typeface="Inter" pitchFamily="34" charset="-122"/>
                          <a:cs typeface="Inter" pitchFamily="34" charset="-120"/>
                        </a:rPr>
                        <a:t>Critical</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16111">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Delivery</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Net shipping cost</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2B1D16"/>
                          </a:solidFill>
                          <a:latin typeface="Inter" pitchFamily="34" charset="0"/>
                          <a:ea typeface="Inter" pitchFamily="34" charset="-122"/>
                          <a:cs typeface="Inter" pitchFamily="34" charset="-120"/>
                        </a:rPr>
                        <a:t>€1.02M = 5.8% of e-com sales</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591"/>
                        </a:lnSpc>
                        <a:buNone/>
                      </a:pPr>
                      <a:r>
                        <a:rPr lang="en-US" sz="1136" dirty="0">
                          <a:solidFill>
                            <a:srgbClr val="8A6200"/>
                          </a:solidFill>
                          <a:latin typeface="Inter" pitchFamily="34" charset="0"/>
                          <a:ea typeface="Inter" pitchFamily="34" charset="-122"/>
                          <a:cs typeface="Inter" pitchFamily="34" charset="-120"/>
                        </a:rPr>
                        <a:t>Watch</a:t>
                      </a:r>
                      <a:endParaRPr lang="en-US" sz="1136" dirty="0">
                        <a:latin typeface="Inter" charset="0"/>
                        <a:ea typeface="Inter" charset="0"/>
                        <a:cs typeface="Inter" charset="0"/>
                      </a:endParaRPr>
                    </a:p>
                  </a:txBody>
                  <a:tcPr marL="50506" marR="50506" marT="50506" marB="50506"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company data 2023, own calculations (definitions in appendix)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SALES</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Orders are frozen at 658 a day; only basket size moves with the seasons</a:t>
            </a:r>
            <a:endParaRPr lang="en-US" sz="2800" dirty="0"/>
          </a:p>
        </p:txBody>
      </p:sp>
      <p:pic>
        <p:nvPicPr>
          <p:cNvPr id="4" name="Image 0" descr="Left: orders per day flat at 658 all year. Right: kg per order, about 2.5 kg in March to August and about 3.4 kg in September to February.">    </p:cNvPr>
          <p:cNvPicPr>
            <a:picLocks noChangeAspect="1"/>
          </p:cNvPicPr>
          <p:nvPr/>
        </p:nvPicPr>
        <p:blipFill>
          <a:blip r:embed="rId1"/>
          <a:srcRect l="-11" r="-11" t="0" b="0"/>
          <a:stretch/>
        </p:blipFill>
        <p:spPr>
          <a:xfrm>
            <a:off x="812800" y="2285935"/>
            <a:ext cx="6985000" cy="2355850"/>
          </a:xfrm>
          <a:prstGeom prst="rect">
            <a:avLst/>
          </a:prstGeom>
        </p:spPr>
      </p:pic>
      <p:sp>
        <p:nvSpPr>
          <p:cNvPr id="5" name="Text 2"/>
          <p:cNvSpPr/>
          <p:nvPr/>
        </p:nvSpPr>
        <p:spPr>
          <a:xfrm>
            <a:off x="8204200" y="2303134"/>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6DB5"/>
                </a:solidFill>
                <a:latin typeface="Libre Baskerville" pitchFamily="18" charset="0"/>
                <a:ea typeface="Libre Baskerville" pitchFamily="18" charset="-122"/>
                <a:cs typeface="Libre Baskerville" pitchFamily="18" charset="-120"/>
              </a:rPr>
              <a:t>+36%</a:t>
            </a:r>
            <a:endParaRPr lang="en-US" sz="4800" dirty="0"/>
          </a:p>
        </p:txBody>
      </p:sp>
      <p:sp>
        <p:nvSpPr>
          <p:cNvPr id="6" name="Text 3"/>
          <p:cNvSpPr/>
          <p:nvPr/>
        </p:nvSpPr>
        <p:spPr>
          <a:xfrm>
            <a:off x="8204200" y="3039734"/>
            <a:ext cx="32702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more coffee per order in Sep–Feb (3.4 kg) than in Mar–Aug (2.5 kg).</a:t>
            </a:r>
            <a:endParaRPr lang="en-US" sz="1500" dirty="0"/>
          </a:p>
        </p:txBody>
      </p:sp>
      <p:sp>
        <p:nvSpPr>
          <p:cNvPr id="7" name="Text 4"/>
          <p:cNvSpPr/>
          <p:nvPr/>
        </p:nvSpPr>
        <p:spPr>
          <a:xfrm>
            <a:off x="8204200" y="3700134"/>
            <a:ext cx="3270250"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The number of orders never changes: the stop on new customers works. B2B is small: 21 office clients, 2.3% of revenue.</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240,352 e-com orders and 273 B2B deliveries, 2023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ROASTING VS DEMAND</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We roast about 65 t every month while demand swings between 51 and 73 t</a:t>
            </a:r>
            <a:endParaRPr lang="en-US" sz="2800" dirty="0"/>
          </a:p>
        </p:txBody>
      </p:sp>
      <p:pic>
        <p:nvPicPr>
          <p:cNvPr id="4" name="Image 0" descr="Line chart: roasted volume stays between 58 and 71 tonnes per month, demand is around 52 tonnes from March to August and around 72 tonnes from September to December.">    </p:cNvPr>
          <p:cNvPicPr>
            <a:picLocks noChangeAspect="1"/>
          </p:cNvPicPr>
          <p:nvPr/>
        </p:nvPicPr>
        <p:blipFill>
          <a:blip r:embed="rId1"/>
          <a:srcRect l="-11" r="-11" t="0" b="0"/>
          <a:stretch/>
        </p:blipFill>
        <p:spPr>
          <a:xfrm>
            <a:off x="812800" y="2285935"/>
            <a:ext cx="6985000" cy="2692400"/>
          </a:xfrm>
          <a:prstGeom prst="rect">
            <a:avLst/>
          </a:prstGeom>
        </p:spPr>
      </p:pic>
      <p:sp>
        <p:nvSpPr>
          <p:cNvPr id="5" name="Text 2"/>
          <p:cNvSpPr/>
          <p:nvPr/>
        </p:nvSpPr>
        <p:spPr>
          <a:xfrm>
            <a:off x="8204200" y="2453615"/>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61B"/>
                </a:solidFill>
                <a:latin typeface="Libre Baskerville" pitchFamily="18" charset="0"/>
                <a:ea typeface="Libre Baskerville" pitchFamily="18" charset="-122"/>
                <a:cs typeface="Libre Baskerville" pitchFamily="18" charset="-120"/>
              </a:rPr>
              <a:t>83 t</a:t>
            </a:r>
            <a:endParaRPr lang="en-US" sz="4800" dirty="0"/>
          </a:p>
        </p:txBody>
      </p:sp>
      <p:sp>
        <p:nvSpPr>
          <p:cNvPr id="6" name="Text 3"/>
          <p:cNvSpPr/>
          <p:nvPr/>
        </p:nvSpPr>
        <p:spPr>
          <a:xfrm>
            <a:off x="8204200" y="3190215"/>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roasted on top of demand in March–August, all of it going into stock.</a:t>
            </a:r>
            <a:endParaRPr lang="en-US" sz="1500" dirty="0"/>
          </a:p>
        </p:txBody>
      </p:sp>
      <p:sp>
        <p:nvSpPr>
          <p:cNvPr id="7" name="Text 4"/>
          <p:cNvSpPr/>
          <p:nvPr/>
        </p:nvSpPr>
        <p:spPr>
          <a:xfrm>
            <a:off x="8204200" y="4117315"/>
            <a:ext cx="327025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In September–December the roasters cannot keep up and the stock is drained by 30 t.</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roasting data (good batches × final weight) vs e-com + B2B sales in kg, 2023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WAREHOUSE</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The summer overstock expired: 48 t of roasted coffee was thrown away</a:t>
            </a:r>
            <a:endParaRPr lang="en-US" sz="2800" dirty="0"/>
          </a:p>
        </p:txBody>
      </p:sp>
      <p:pic>
        <p:nvPicPr>
          <p:cNvPr id="4" name="Image 0" descr="Bar chart of roasted coffee in stock per month, rising from 31 t in February to 67 t in May; expired coffee scrapped: 21 t in June, 15 t in July, 12 t in August.">    </p:cNvPr>
          <p:cNvPicPr>
            <a:picLocks noChangeAspect="1"/>
          </p:cNvPicPr>
          <p:nvPr/>
        </p:nvPicPr>
        <p:blipFill>
          <a:blip r:embed="rId1"/>
          <a:srcRect l="-11" r="-11" t="0" b="0"/>
          <a:stretch/>
        </p:blipFill>
        <p:spPr>
          <a:xfrm>
            <a:off x="812800" y="2285935"/>
            <a:ext cx="6985000" cy="2692400"/>
          </a:xfrm>
          <a:prstGeom prst="rect">
            <a:avLst/>
          </a:prstGeom>
        </p:spPr>
      </p:pic>
      <p:sp>
        <p:nvSpPr>
          <p:cNvPr id="5" name="Text 2"/>
          <p:cNvSpPr/>
          <p:nvPr/>
        </p:nvSpPr>
        <p:spPr>
          <a:xfrm>
            <a:off x="8204200" y="2453615"/>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61B"/>
                </a:solidFill>
                <a:latin typeface="Libre Baskerville" pitchFamily="18" charset="0"/>
                <a:ea typeface="Libre Baskerville" pitchFamily="18" charset="-122"/>
                <a:cs typeface="Libre Baskerville" pitchFamily="18" charset="-120"/>
              </a:rPr>
              <a:t>6.2%</a:t>
            </a:r>
            <a:endParaRPr lang="en-US" sz="4800" dirty="0"/>
          </a:p>
        </p:txBody>
      </p:sp>
      <p:sp>
        <p:nvSpPr>
          <p:cNvPr id="6" name="Text 3"/>
          <p:cNvSpPr/>
          <p:nvPr/>
        </p:nvSpPr>
        <p:spPr>
          <a:xfrm>
            <a:off x="8204200" y="3190215"/>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of everything we roasted expired: ≈ €0.5M in green beans, €1.16M in sales value.</a:t>
            </a:r>
            <a:endParaRPr lang="en-US" sz="1500" dirty="0"/>
          </a:p>
        </p:txBody>
      </p:sp>
      <p:sp>
        <p:nvSpPr>
          <p:cNvPr id="7" name="Text 4"/>
          <p:cNvSpPr/>
          <p:nvPr/>
        </p:nvSpPr>
        <p:spPr>
          <a:xfrm>
            <a:off x="8204200" y="4117318"/>
            <a:ext cx="327025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Coffee expired in the months after stock passed ~6 weeks of sales (dark roast: 49 days in May).</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finished goods inventory 2023; bean cost = €8.32/kg green ÷ 81% yield = €10.33 per kg roasted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ROASTING &amp; PACKING CAPACITY</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Roasters and packing line already run a full shift: no room to grow</a:t>
            </a:r>
            <a:endParaRPr lang="en-US" sz="2800" dirty="0"/>
          </a:p>
        </p:txBody>
      </p:sp>
      <p:pic>
        <p:nvPicPr>
          <p:cNvPr id="4" name="Image 0" descr="Bar chart of hours used per working day: Probat P60 8.0 hours, Probat Px120 8.5 hours, packing line 8.3 hours, all at or above an 8-hour shift.">    </p:cNvPr>
          <p:cNvPicPr>
            <a:picLocks noChangeAspect="1"/>
          </p:cNvPicPr>
          <p:nvPr/>
        </p:nvPicPr>
        <p:blipFill>
          <a:blip r:embed="rId1"/>
          <a:srcRect l="-49" r="-49" t="0" b="0"/>
          <a:stretch/>
        </p:blipFill>
        <p:spPr>
          <a:xfrm>
            <a:off x="812800" y="2413533"/>
            <a:ext cx="6985000" cy="2101850"/>
          </a:xfrm>
          <a:prstGeom prst="rect">
            <a:avLst/>
          </a:prstGeom>
        </p:spPr>
      </p:pic>
      <p:sp>
        <p:nvSpPr>
          <p:cNvPr id="5" name="Text 2"/>
          <p:cNvSpPr/>
          <p:nvPr/>
        </p:nvSpPr>
        <p:spPr>
          <a:xfrm>
            <a:off x="8204200" y="2285938"/>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61B"/>
                </a:solidFill>
                <a:latin typeface="Libre Baskerville" pitchFamily="18" charset="0"/>
                <a:ea typeface="Libre Baskerville" pitchFamily="18" charset="-122"/>
                <a:cs typeface="Libre Baskerville" pitchFamily="18" charset="-120"/>
              </a:rPr>
              <a:t>63%</a:t>
            </a:r>
            <a:endParaRPr lang="en-US" sz="4800" dirty="0"/>
          </a:p>
        </p:txBody>
      </p:sp>
      <p:sp>
        <p:nvSpPr>
          <p:cNvPr id="6" name="Text 3"/>
          <p:cNvSpPr/>
          <p:nvPr/>
        </p:nvSpPr>
        <p:spPr>
          <a:xfrm>
            <a:off x="8204200" y="3022538"/>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of its rated 480 kg/h is what the Px120 really delivers (P60: 76% of 215 kg/h).</a:t>
            </a:r>
            <a:endParaRPr lang="en-US" sz="1500" dirty="0"/>
          </a:p>
        </p:txBody>
      </p:sp>
      <p:sp>
        <p:nvSpPr>
          <p:cNvPr id="7" name="Text 4"/>
          <p:cNvSpPr/>
          <p:nvPr/>
        </p:nvSpPr>
        <p:spPr>
          <a:xfrm>
            <a:off x="8204200" y="3949638"/>
            <a:ext cx="327025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Why: batches filled to only 92% (110 of 120 kg) and setups of 6.0 min per batch vs 4.1 min on the P60.</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roasting data 2023; hours = batches per day × (setup + roast time); assumption: one 8-hour shift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ROASTING QUALITY</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Light roast fails quality control three to four times as often as the other roasts</a:t>
            </a:r>
            <a:endParaRPr lang="en-US" sz="2800" dirty="0"/>
          </a:p>
        </p:txBody>
      </p:sp>
      <p:pic>
        <p:nvPicPr>
          <p:cNvPr id="4" name="Image 0" descr="Bar chart of batches rejected by quality control: light roast 5.0%, dark roast 1.5%, medium roast 1.3%.">    </p:cNvPr>
          <p:cNvPicPr>
            <a:picLocks noChangeAspect="1"/>
          </p:cNvPicPr>
          <p:nvPr/>
        </p:nvPicPr>
        <p:blipFill>
          <a:blip r:embed="rId1"/>
          <a:srcRect l="0" r="0" t="0" b="0"/>
          <a:stretch/>
        </p:blipFill>
        <p:spPr>
          <a:xfrm>
            <a:off x="812800" y="2285938"/>
            <a:ext cx="5334000" cy="2667000"/>
          </a:xfrm>
          <a:prstGeom prst="rect">
            <a:avLst/>
          </a:prstGeom>
        </p:spPr>
      </p:pic>
      <p:sp>
        <p:nvSpPr>
          <p:cNvPr id="5" name="Text 2"/>
          <p:cNvSpPr/>
          <p:nvPr/>
        </p:nvSpPr>
        <p:spPr>
          <a:xfrm>
            <a:off x="6654800" y="2325359"/>
            <a:ext cx="486613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61B"/>
                </a:solidFill>
                <a:latin typeface="Libre Baskerville" pitchFamily="18" charset="0"/>
                <a:ea typeface="Libre Baskerville" pitchFamily="18" charset="-122"/>
                <a:cs typeface="Libre Baskerville" pitchFamily="18" charset="-120"/>
              </a:rPr>
              <a:t>83</a:t>
            </a:r>
            <a:endParaRPr lang="en-US" sz="4800" dirty="0"/>
          </a:p>
        </p:txBody>
      </p:sp>
      <p:sp>
        <p:nvSpPr>
          <p:cNvPr id="6" name="Text 3"/>
          <p:cNvSpPr/>
          <p:nvPr/>
        </p:nvSpPr>
        <p:spPr>
          <a:xfrm>
            <a:off x="6654800" y="3061959"/>
            <a:ext cx="486613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light roast batches of 1,672 rejected in 2023, more than dark and medium although we roast far less of it.</a:t>
            </a:r>
            <a:endParaRPr lang="en-US" sz="1500" dirty="0"/>
          </a:p>
        </p:txBody>
      </p:sp>
      <p:sp>
        <p:nvSpPr>
          <p:cNvPr id="7" name="Text 4"/>
          <p:cNvSpPr/>
          <p:nvPr/>
        </p:nvSpPr>
        <p:spPr>
          <a:xfrm>
            <a:off x="6654800" y="3989059"/>
            <a:ext cx="4866132"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Rejects are spread evenly over weight, colour and roast profile, so it is a process issue, not one fault. Light and dark share the Px120 (2.5% rejects vs 1.3% on the P60): switching roast profiles is the likely cause.</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roasting data 2023, QC rejects ÷ batches roasted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SOURCING</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Bean stock fell to 7 working days in July: one late container stops the roasters</a:t>
            </a:r>
            <a:endParaRPr lang="en-US" sz="2800" dirty="0"/>
          </a:p>
        </p:txBody>
      </p:sp>
      <p:pic>
        <p:nvPicPr>
          <p:cNvPr id="4" name="Image 0" descr="Line chart of working days of green beans in stock per month, between 7 and 29 days; below 15 days in July (7), September (10) and November (10).">    </p:cNvPr>
          <p:cNvPicPr>
            <a:picLocks noChangeAspect="1"/>
          </p:cNvPicPr>
          <p:nvPr/>
        </p:nvPicPr>
        <p:blipFill>
          <a:blip r:embed="rId1"/>
          <a:srcRect l="0" r="0" t="-52" b="-52"/>
          <a:stretch/>
        </p:blipFill>
        <p:spPr>
          <a:xfrm>
            <a:off x="812800" y="2285938"/>
            <a:ext cx="6985000" cy="2527300"/>
          </a:xfrm>
          <a:prstGeom prst="rect">
            <a:avLst/>
          </a:prstGeom>
        </p:spPr>
      </p:pic>
      <p:sp>
        <p:nvSpPr>
          <p:cNvPr id="5" name="Text 2"/>
          <p:cNvSpPr/>
          <p:nvPr/>
        </p:nvSpPr>
        <p:spPr>
          <a:xfrm>
            <a:off x="8204200" y="2371068"/>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61B"/>
                </a:solidFill>
                <a:latin typeface="Libre Baskerville" pitchFamily="18" charset="0"/>
                <a:ea typeface="Libre Baskerville" pitchFamily="18" charset="-122"/>
                <a:cs typeface="Libre Baskerville" pitchFamily="18" charset="-120"/>
              </a:rPr>
              <a:t>98</a:t>
            </a:r>
            <a:endParaRPr lang="en-US" sz="4800" dirty="0"/>
          </a:p>
        </p:txBody>
      </p:sp>
      <p:sp>
        <p:nvSpPr>
          <p:cNvPr id="6" name="Text 3"/>
          <p:cNvSpPr/>
          <p:nvPr/>
        </p:nvSpPr>
        <p:spPr>
          <a:xfrm>
            <a:off x="8204200" y="3107668"/>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containers of green beans in 2023, each origin from a single farmer (direct trade).</a:t>
            </a:r>
            <a:endParaRPr lang="en-US" sz="1500" dirty="0"/>
          </a:p>
        </p:txBody>
      </p:sp>
      <p:sp>
        <p:nvSpPr>
          <p:cNvPr id="7" name="Text 4"/>
          <p:cNvSpPr/>
          <p:nvPr/>
        </p:nvSpPr>
        <p:spPr>
          <a:xfrm>
            <a:off x="8204200" y="4034768"/>
            <a:ext cx="327025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Meanwhile 5 t of beans expired in May. Orders follow a fixed rhythm, not actual usage and shipping lead time.</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raw material inventory and roasting data 2023; 1 container = 12 pallets × 12 bags × 70 kg = 10,080 kg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DELIVERY &amp; WEBSHOP</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1 in 8 customers paid shipping they should not have, and 1 in 13 parcels is late</a:t>
            </a:r>
            <a:endParaRPr lang="en-US" sz="2800" dirty="0"/>
          </a:p>
        </p:txBody>
      </p:sp>
      <p:pic>
        <p:nvPicPr>
          <p:cNvPr id="4" name="Image 0" descr="Left: of orders above 55 euros, 119 thousand shipped free and 31 thousand were still charged 4.95 euros. Right: 92.1% of parcels delivered on time, 6.7% one day late, 1.2% two or more days late.">    </p:cNvPr>
          <p:cNvPicPr>
            <a:picLocks noChangeAspect="1"/>
          </p:cNvPicPr>
          <p:nvPr/>
        </p:nvPicPr>
        <p:blipFill>
          <a:blip r:embed="rId1"/>
          <a:srcRect l="-11" r="-11" t="0" b="0"/>
          <a:stretch/>
        </p:blipFill>
        <p:spPr>
          <a:xfrm>
            <a:off x="812800" y="2402086"/>
            <a:ext cx="6985000" cy="2355850"/>
          </a:xfrm>
          <a:prstGeom prst="rect">
            <a:avLst/>
          </a:prstGeom>
        </p:spPr>
      </p:pic>
      <p:sp>
        <p:nvSpPr>
          <p:cNvPr id="5" name="Text 2"/>
          <p:cNvSpPr/>
          <p:nvPr/>
        </p:nvSpPr>
        <p:spPr>
          <a:xfrm>
            <a:off x="8204200" y="2285938"/>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4561B"/>
                </a:solidFill>
                <a:latin typeface="Libre Baskerville" pitchFamily="18" charset="0"/>
                <a:ea typeface="Libre Baskerville" pitchFamily="18" charset="-122"/>
                <a:cs typeface="Libre Baskerville" pitchFamily="18" charset="-120"/>
              </a:rPr>
              <a:t>€152k</a:t>
            </a:r>
            <a:endParaRPr lang="en-US" sz="4800" dirty="0"/>
          </a:p>
        </p:txBody>
      </p:sp>
      <p:sp>
        <p:nvSpPr>
          <p:cNvPr id="6" name="Text 3"/>
          <p:cNvSpPr/>
          <p:nvPr/>
        </p:nvSpPr>
        <p:spPr>
          <a:xfrm>
            <a:off x="8204200" y="3022538"/>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overcharged in 2023. The webshop gives free shipping from 5 bags, not from €55.</a:t>
            </a:r>
            <a:endParaRPr lang="en-US" sz="1500" dirty="0"/>
          </a:p>
        </p:txBody>
      </p:sp>
      <p:sp>
        <p:nvSpPr>
          <p:cNvPr id="7" name="Text 4"/>
          <p:cNvSpPr/>
          <p:nvPr/>
        </p:nvSpPr>
        <p:spPr>
          <a:xfrm>
            <a:off x="8204200" y="3949638"/>
            <a:ext cx="3270250"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So every order of 3–4 one-kilo bags (€69–106) pays €4.95. Late parcels are spread evenly over provinces and weekdays: a PostNL process issue.</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240,352 e-com orders 2023; promise = next working day (weekends and Dutch public holidays excluded)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nter" pitchFamily="34" charset="0"/>
                <a:ea typeface="Inter" pitchFamily="34" charset="-122"/>
                <a:cs typeface="Inter" pitchFamily="34" charset="-120"/>
              </a:rPr>
              <a:t>GROWTH OPPORTUNITY</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Growth is within reach: Noord- and Zuid-Holland buy 4–6× less per inhabitant than Utrecht</a:t>
            </a:r>
            <a:endParaRPr lang="en-US" sz="2800" dirty="0"/>
          </a:p>
        </p:txBody>
      </p:sp>
      <p:pic>
        <p:nvPicPr>
          <p:cNvPr id="4" name="Image 0" descr="Bar chart of e-com orders per 1,000 inhabitants by province: Utrecht 26, Gelderland 23, down to Zuid-Holland 7 and Noord-Holland 4.">    </p:cNvPr>
          <p:cNvPicPr>
            <a:picLocks noChangeAspect="1"/>
          </p:cNvPicPr>
          <p:nvPr/>
        </p:nvPicPr>
        <p:blipFill>
          <a:blip r:embed="rId1"/>
          <a:srcRect l="-40" r="-40" t="0" b="0"/>
          <a:stretch/>
        </p:blipFill>
        <p:spPr>
          <a:xfrm>
            <a:off x="812800" y="2285938"/>
            <a:ext cx="6985000" cy="2774950"/>
          </a:xfrm>
          <a:prstGeom prst="rect">
            <a:avLst/>
          </a:prstGeom>
        </p:spPr>
      </p:pic>
      <p:sp>
        <p:nvSpPr>
          <p:cNvPr id="5" name="Text 2"/>
          <p:cNvSpPr/>
          <p:nvPr/>
        </p:nvSpPr>
        <p:spPr>
          <a:xfrm>
            <a:off x="8204200" y="2494893"/>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6DB5"/>
                </a:solidFill>
                <a:latin typeface="Libre Baskerville" pitchFamily="18" charset="0"/>
                <a:ea typeface="Libre Baskerville" pitchFamily="18" charset="-122"/>
                <a:cs typeface="Libre Baskerville" pitchFamily="18" charset="-120"/>
              </a:rPr>
              <a:t>+22%</a:t>
            </a:r>
            <a:endParaRPr lang="en-US" sz="4800" dirty="0"/>
          </a:p>
        </p:txBody>
      </p:sp>
      <p:sp>
        <p:nvSpPr>
          <p:cNvPr id="6" name="Text 3"/>
          <p:cNvSpPr/>
          <p:nvPr/>
        </p:nvSpPr>
        <p:spPr>
          <a:xfrm>
            <a:off x="8204200" y="3231493"/>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more orders if the two biggest provinces only reach the Dutch average of 13.5 per 1,000.</a:t>
            </a:r>
            <a:endParaRPr lang="en-US" sz="1500" dirty="0"/>
          </a:p>
        </p:txBody>
      </p:sp>
      <p:sp>
        <p:nvSpPr>
          <p:cNvPr id="7" name="Text 4"/>
          <p:cNvSpPr/>
          <p:nvPr/>
        </p:nvSpPr>
        <p:spPr>
          <a:xfrm>
            <a:off x="8204200" y="4158593"/>
            <a:ext cx="327025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All 21 B2B clients are offices in the Randstad already, so the own delivery truck drives there anyway.</a:t>
            </a:r>
            <a:endParaRPr lang="en-US" sz="13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e-com orders 2023; population per province CBS, 1 January 2023 (rounded)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DB5"/>
                </a:solidFill>
                <a:latin typeface="Inter" pitchFamily="34" charset="0"/>
                <a:ea typeface="Inter" pitchFamily="34" charset="-122"/>
                <a:cs typeface="Inter" pitchFamily="34" charset="-120"/>
              </a:rPr>
              <a:t>SCENARIO: +20% DEMAND NEXT YEAR</a:t>
            </a:r>
            <a:endParaRPr lang="en-US" sz="1200" dirty="0"/>
          </a:p>
        </p:txBody>
      </p:sp>
      <p:sp>
        <p:nvSpPr>
          <p:cNvPr id="3" name="Text 1"/>
          <p:cNvSpPr/>
          <p:nvPr>
            <p:ph type="title"/>
          </p:nvPr>
        </p:nvSpPr>
        <p:spPr>
          <a:xfrm>
            <a:off x="812800" y="1127720"/>
            <a:ext cx="10883392" cy="878814"/>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With 20% growth, demand exceeds capacity in 6 of 12 months, even after quick wins</a:t>
            </a:r>
            <a:endParaRPr lang="en-US" sz="2800" dirty="0"/>
          </a:p>
        </p:txBody>
      </p:sp>
      <p:pic>
        <p:nvPicPr>
          <p:cNvPr id="4" name="Image 0" descr="Line chart: demand plus 20% runs from 61 tonnes in summer to 87 tonnes in autumn. Capacity today is 65 tonnes per month, after quick wins 75 tonnes. January, February and September to December stay above 75 tonnes.">    </p:cNvPr>
          <p:cNvPicPr>
            <a:picLocks noChangeAspect="1"/>
          </p:cNvPicPr>
          <p:nvPr/>
        </p:nvPicPr>
        <p:blipFill>
          <a:blip r:embed="rId1"/>
          <a:srcRect l="-40" r="-40" t="0" b="0"/>
          <a:stretch/>
        </p:blipFill>
        <p:spPr>
          <a:xfrm>
            <a:off x="812800" y="2285938"/>
            <a:ext cx="6985000" cy="2774950"/>
          </a:xfrm>
          <a:prstGeom prst="rect">
            <a:avLst/>
          </a:prstGeom>
        </p:spPr>
      </p:pic>
      <p:sp>
        <p:nvSpPr>
          <p:cNvPr id="5" name="Text 2"/>
          <p:cNvSpPr/>
          <p:nvPr/>
        </p:nvSpPr>
        <p:spPr>
          <a:xfrm>
            <a:off x="8204200" y="2494893"/>
            <a:ext cx="327025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F6DB5"/>
                </a:solidFill>
                <a:latin typeface="Libre Baskerville" pitchFamily="18" charset="0"/>
                <a:ea typeface="Libre Baskerville" pitchFamily="18" charset="-122"/>
                <a:cs typeface="Libre Baskerville" pitchFamily="18" charset="-120"/>
              </a:rPr>
              <a:t>12 t</a:t>
            </a:r>
            <a:endParaRPr lang="en-US" sz="4800" dirty="0"/>
          </a:p>
        </p:txBody>
      </p:sp>
      <p:sp>
        <p:nvSpPr>
          <p:cNvPr id="6" name="Text 3"/>
          <p:cNvSpPr/>
          <p:nvPr/>
        </p:nvSpPr>
        <p:spPr>
          <a:xfrm>
            <a:off x="8204200" y="3231493"/>
            <a:ext cx="327025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1D16"/>
                </a:solidFill>
                <a:latin typeface="Inter" pitchFamily="34" charset="0"/>
                <a:ea typeface="Inter" pitchFamily="34" charset="-122"/>
                <a:cs typeface="Inter" pitchFamily="34" charset="-120"/>
              </a:rPr>
              <a:t>per month short in Oct and Dec after quick wins: a 2nd shift is needed in the peak season.</a:t>
            </a:r>
            <a:endParaRPr lang="en-US" sz="1500" dirty="0"/>
          </a:p>
        </p:txBody>
      </p:sp>
      <p:sp>
        <p:nvSpPr>
          <p:cNvPr id="7" name="Text 4"/>
          <p:cNvSpPr/>
          <p:nvPr/>
        </p:nvSpPr>
        <p:spPr>
          <a:xfrm>
            <a:off x="8204200" y="4158593"/>
            <a:ext cx="327025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534C"/>
                </a:solidFill>
                <a:latin typeface="Inter" pitchFamily="34" charset="0"/>
                <a:ea typeface="Inter" pitchFamily="34" charset="-122"/>
                <a:cs typeface="Inter" pitchFamily="34" charset="-120"/>
              </a:rPr>
              <a:t>Also +20%: ~118 containers of beans, ~790 parcels a day, and 20% more bags and boxes to plan.</a:t>
            </a:r>
            <a:endParaRPr lang="en-US" sz="1300" dirty="0"/>
          </a:p>
        </p:txBody>
      </p:sp>
      <p:sp>
        <p:nvSpPr>
          <p:cNvPr id="8" name="Text 5"/>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Source: 2023 demand × 1.2 with the same seasonal pattern; capacity = average roasted output 2023; quick wins = full batches + Px120 setup at P60 level (+16%)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ADVICE TO THE CEO</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Fix, prepare, then grow: a one-year roadmap</a:t>
            </a:r>
            <a:endParaRPr lang="en-US" sz="2800" dirty="0"/>
          </a:p>
        </p:txBody>
      </p:sp>
      <p:sp>
        <p:nvSpPr>
          <p:cNvPr id="4" name="Shape 2"/>
          <p:cNvSpPr/>
          <p:nvPr/>
        </p:nvSpPr>
        <p:spPr>
          <a:xfrm>
            <a:off x="812800" y="1859229"/>
            <a:ext cx="3352800" cy="3982773"/>
          </a:xfrm>
          <a:prstGeom prst="roundRect">
            <a:avLst>
              <a:gd name="adj" fmla="val 3030"/>
            </a:avLst>
          </a:prstGeom>
          <a:solidFill>
            <a:srgbClr val="FFFDF9"/>
          </a:solidFill>
          <a:ln/>
        </p:spPr>
      </p:sp>
      <p:sp>
        <p:nvSpPr>
          <p:cNvPr id="5" name="Shape 3"/>
          <p:cNvSpPr/>
          <p:nvPr/>
        </p:nvSpPr>
        <p:spPr>
          <a:xfrm>
            <a:off x="812800" y="1859229"/>
            <a:ext cx="3352800" cy="3982773"/>
          </a:xfrm>
          <a:custGeom>
            <a:avLst/>
            <a:gdLst/>
            <a:ahLst/>
            <a:cxnLst/>
            <a:rect l="l" t="t" r="r" b="b"/>
            <a:pathLst>
              <a:path w="3352800" h="3982773">
                <a:moveTo>
                  <a:pt x="0" y="101600"/>
                </a:moveTo>
                <a:lnTo>
                  <a:pt x="0" y="101600"/>
                </a:lnTo>
                <a:arcTo hR="101600" wR="101600" stAng="10800000" swAng="5400000"/>
                <a:lnTo>
                  <a:pt x="3251200" y="0"/>
                </a:lnTo>
                <a:arcTo hR="101600" wR="101600" stAng="16200000" swAng="5400000"/>
                <a:lnTo>
                  <a:pt x="3352800" y="101600"/>
                </a:lnTo>
                <a:arcTo hR="50800" wR="101600" stAng="0" swAng="-5400000"/>
                <a:lnTo>
                  <a:pt x="101600" y="50800"/>
                </a:lnTo>
                <a:arcTo hR="50800" wR="101600" stAng="16200000" swAng="-5400000"/>
                <a:close/>
              </a:path>
            </a:pathLst>
          </a:custGeom>
          <a:solidFill>
            <a:srgbClr val="C4561B"/>
          </a:solidFill>
          <a:ln/>
        </p:spPr>
      </p:sp>
      <p:sp>
        <p:nvSpPr>
          <p:cNvPr id="6" name="Text 4"/>
          <p:cNvSpPr/>
          <p:nvPr/>
        </p:nvSpPr>
        <p:spPr>
          <a:xfrm>
            <a:off x="1066800" y="216402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561B"/>
                </a:solidFill>
                <a:latin typeface="Inter" pitchFamily="34" charset="0"/>
                <a:ea typeface="Inter" pitchFamily="34" charset="-122"/>
                <a:cs typeface="Inter" pitchFamily="34" charset="-120"/>
              </a:rPr>
              <a:t>1 · FIX NOW · months 1–3</a:t>
            </a:r>
            <a:endParaRPr lang="en-US" sz="1200" dirty="0"/>
          </a:p>
        </p:txBody>
      </p:sp>
      <p:sp>
        <p:nvSpPr>
          <p:cNvPr id="7" name="Text 5"/>
          <p:cNvSpPr/>
          <p:nvPr/>
        </p:nvSpPr>
        <p:spPr>
          <a:xfrm>
            <a:off x="1151382" y="2491649"/>
            <a:ext cx="2837942" cy="2514468"/>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Set the webshop rule to free shipping above €55; compensate overcharged customers</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Monthly sales &amp; operations plan: roast to forecast, max ~4 weeks of stock, first-in-first-out</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Register packaging stock correctly</a:t>
            </a:r>
            <a:endParaRPr lang="en-US" sz="1400" dirty="0"/>
          </a:p>
        </p:txBody>
      </p:sp>
      <p:sp>
        <p:nvSpPr>
          <p:cNvPr id="8" name="Shape 6"/>
          <p:cNvSpPr/>
          <p:nvPr/>
        </p:nvSpPr>
        <p:spPr>
          <a:xfrm>
            <a:off x="4419600" y="1859229"/>
            <a:ext cx="3352800" cy="3982773"/>
          </a:xfrm>
          <a:prstGeom prst="roundRect">
            <a:avLst>
              <a:gd name="adj" fmla="val 3030"/>
            </a:avLst>
          </a:prstGeom>
          <a:solidFill>
            <a:srgbClr val="FFFDF9"/>
          </a:solidFill>
          <a:ln/>
        </p:spPr>
      </p:sp>
      <p:sp>
        <p:nvSpPr>
          <p:cNvPr id="9" name="Shape 7"/>
          <p:cNvSpPr/>
          <p:nvPr/>
        </p:nvSpPr>
        <p:spPr>
          <a:xfrm>
            <a:off x="4419600" y="1859229"/>
            <a:ext cx="3352800" cy="3982773"/>
          </a:xfrm>
          <a:custGeom>
            <a:avLst/>
            <a:gdLst/>
            <a:ahLst/>
            <a:cxnLst/>
            <a:rect l="l" t="t" r="r" b="b"/>
            <a:pathLst>
              <a:path w="3352800" h="3982773">
                <a:moveTo>
                  <a:pt x="0" y="101600"/>
                </a:moveTo>
                <a:lnTo>
                  <a:pt x="0" y="101600"/>
                </a:lnTo>
                <a:arcTo hR="101600" wR="101600" stAng="10800000" swAng="5400000"/>
                <a:lnTo>
                  <a:pt x="3251200" y="0"/>
                </a:lnTo>
                <a:arcTo hR="101600" wR="101600" stAng="16200000" swAng="5400000"/>
                <a:lnTo>
                  <a:pt x="3352800" y="101600"/>
                </a:lnTo>
                <a:arcTo hR="50800" wR="101600" stAng="0" swAng="-5400000"/>
                <a:lnTo>
                  <a:pt x="101600" y="50800"/>
                </a:lnTo>
                <a:arcTo hR="50800" wR="101600" stAng="16200000" swAng="-5400000"/>
                <a:close/>
              </a:path>
            </a:pathLst>
          </a:custGeom>
          <a:solidFill>
            <a:srgbClr val="2B1D16"/>
          </a:solidFill>
          <a:ln/>
        </p:spPr>
      </p:sp>
      <p:sp>
        <p:nvSpPr>
          <p:cNvPr id="10" name="Text 8"/>
          <p:cNvSpPr/>
          <p:nvPr/>
        </p:nvSpPr>
        <p:spPr>
          <a:xfrm>
            <a:off x="4673600" y="216402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1D16"/>
                </a:solidFill>
                <a:latin typeface="Inter" pitchFamily="34" charset="0"/>
                <a:ea typeface="Inter" pitchFamily="34" charset="-122"/>
                <a:cs typeface="Inter" pitchFamily="34" charset="-120"/>
              </a:rPr>
              <a:t>2 · PREPARE · months 3–8</a:t>
            </a:r>
            <a:endParaRPr lang="en-US" sz="1200" dirty="0"/>
          </a:p>
        </p:txBody>
      </p:sp>
      <p:sp>
        <p:nvSpPr>
          <p:cNvPr id="11" name="Text 9"/>
          <p:cNvSpPr/>
          <p:nvPr/>
        </p:nvSpPr>
        <p:spPr>
          <a:xfrm>
            <a:off x="4758182" y="2491649"/>
            <a:ext cx="2837942" cy="2514468"/>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Fill batches to 60/120 kg and cut Px120 setups to 4 min (+16% capacity)</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Root-cause light-roast rejects on the Px120</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Bean reorder point of 4+ weeks; add a second farmer per origin</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Agree a next-day target of ≥97% with PostNL</a:t>
            </a:r>
            <a:endParaRPr lang="en-US" sz="1400" dirty="0"/>
          </a:p>
        </p:txBody>
      </p:sp>
      <p:sp>
        <p:nvSpPr>
          <p:cNvPr id="12" name="Shape 10"/>
          <p:cNvSpPr/>
          <p:nvPr/>
        </p:nvSpPr>
        <p:spPr>
          <a:xfrm>
            <a:off x="8026400" y="1859229"/>
            <a:ext cx="3352800" cy="3982773"/>
          </a:xfrm>
          <a:prstGeom prst="roundRect">
            <a:avLst>
              <a:gd name="adj" fmla="val 3030"/>
            </a:avLst>
          </a:prstGeom>
          <a:solidFill>
            <a:srgbClr val="FFFDF9"/>
          </a:solidFill>
          <a:ln/>
        </p:spPr>
      </p:sp>
      <p:sp>
        <p:nvSpPr>
          <p:cNvPr id="13" name="Shape 11"/>
          <p:cNvSpPr/>
          <p:nvPr/>
        </p:nvSpPr>
        <p:spPr>
          <a:xfrm>
            <a:off x="8026400" y="1859229"/>
            <a:ext cx="3352800" cy="3982773"/>
          </a:xfrm>
          <a:custGeom>
            <a:avLst/>
            <a:gdLst/>
            <a:ahLst/>
            <a:cxnLst/>
            <a:rect l="l" t="t" r="r" b="b"/>
            <a:pathLst>
              <a:path w="3352800" h="3982773">
                <a:moveTo>
                  <a:pt x="0" y="101600"/>
                </a:moveTo>
                <a:lnTo>
                  <a:pt x="0" y="101600"/>
                </a:lnTo>
                <a:arcTo hR="101600" wR="101600" stAng="10800000" swAng="5400000"/>
                <a:lnTo>
                  <a:pt x="3251200" y="0"/>
                </a:lnTo>
                <a:arcTo hR="101600" wR="101600" stAng="16200000" swAng="5400000"/>
                <a:lnTo>
                  <a:pt x="3352800" y="101600"/>
                </a:lnTo>
                <a:arcTo hR="50800" wR="101600" stAng="0" swAng="-5400000"/>
                <a:lnTo>
                  <a:pt x="101600" y="50800"/>
                </a:lnTo>
                <a:arcTo hR="50800" wR="101600" stAng="16200000" swAng="-5400000"/>
                <a:close/>
              </a:path>
            </a:pathLst>
          </a:custGeom>
          <a:solidFill>
            <a:srgbClr val="2F6DB5"/>
          </a:solidFill>
          <a:ln/>
        </p:spPr>
      </p:sp>
      <p:sp>
        <p:nvSpPr>
          <p:cNvPr id="14" name="Text 12"/>
          <p:cNvSpPr/>
          <p:nvPr/>
        </p:nvSpPr>
        <p:spPr>
          <a:xfrm>
            <a:off x="8280400" y="216402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DB5"/>
                </a:solidFill>
                <a:latin typeface="Inter" pitchFamily="34" charset="0"/>
                <a:ea typeface="Inter" pitchFamily="34" charset="-122"/>
                <a:cs typeface="Inter" pitchFamily="34" charset="-120"/>
              </a:rPr>
              <a:t>3 · GROW · from month 9</a:t>
            </a:r>
            <a:endParaRPr lang="en-US" sz="1200" dirty="0"/>
          </a:p>
        </p:txBody>
      </p:sp>
      <p:sp>
        <p:nvSpPr>
          <p:cNvPr id="15" name="Text 13"/>
          <p:cNvSpPr/>
          <p:nvPr/>
        </p:nvSpPr>
        <p:spPr>
          <a:xfrm>
            <a:off x="8364982" y="2491649"/>
            <a:ext cx="2837942" cy="1767748"/>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Reopen to new customers, starting with Noord- and Zuid-Holland (e-com and offices)</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Second shift on roasters and packing line in Sep–Feb</a:t>
            </a:r>
            <a:endParaRPr lang="en-US" sz="1400" dirty="0"/>
          </a:p>
          <a:p>
            <a:pPr algn="l" marL="169418" indent="-169418">
              <a:lnSpc>
                <a:spcPts val="1960"/>
              </a:lnSpc>
              <a:buSzPct val="100000"/>
              <a:buChar char="•"/>
            </a:pPr>
            <a:r>
              <a:rPr lang="en-US" sz="1400" dirty="0">
                <a:solidFill>
                  <a:srgbClr val="2B1D16"/>
                </a:solidFill>
                <a:latin typeface="Inter" pitchFamily="34" charset="0"/>
                <a:ea typeface="Inter" pitchFamily="34" charset="-122"/>
                <a:cs typeface="Inter" pitchFamily="34" charset="-120"/>
              </a:rPr>
              <a:t>Assess a third roaster once growth passes ~30%</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CRISP-DM 6 · Deployment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1D1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58A4E"/>
                </a:solidFill>
                <a:latin typeface="Inter" pitchFamily="34" charset="0"/>
                <a:ea typeface="Inter" pitchFamily="34" charset="-122"/>
                <a:cs typeface="Inter" pitchFamily="34" charset="-120"/>
              </a:rPr>
              <a:t>EXPECTED OUTCOME</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7F3EC"/>
                </a:solidFill>
                <a:latin typeface="Libre Baskerville" pitchFamily="18" charset="0"/>
                <a:ea typeface="Libre Baskerville" pitchFamily="18" charset="-122"/>
                <a:cs typeface="Libre Baskerville" pitchFamily="18" charset="-120"/>
              </a:rPr>
              <a:t>Yes, grow next year, but only after the fixes are in place</a:t>
            </a:r>
            <a:endParaRPr lang="en-US" sz="2800" dirty="0"/>
          </a:p>
        </p:txBody>
      </p:sp>
      <p:sp>
        <p:nvSpPr>
          <p:cNvPr id="4" name="Shape 2"/>
          <p:cNvSpPr/>
          <p:nvPr/>
        </p:nvSpPr>
        <p:spPr>
          <a:xfrm>
            <a:off x="812800" y="1916385"/>
            <a:ext cx="3352800" cy="0"/>
          </a:xfrm>
          <a:prstGeom prst="line">
            <a:avLst/>
          </a:prstGeom>
          <a:noFill/>
          <a:ln w="12700">
            <a:solidFill>
              <a:srgbClr val="6B5A4E"/>
            </a:solidFill>
            <a:prstDash val="solid"/>
          </a:ln>
        </p:spPr>
      </p:sp>
      <p:sp>
        <p:nvSpPr>
          <p:cNvPr id="5" name="Text 3"/>
          <p:cNvSpPr/>
          <p:nvPr/>
        </p:nvSpPr>
        <p:spPr>
          <a:xfrm>
            <a:off x="812800" y="2125935"/>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58A4E"/>
                </a:solidFill>
                <a:latin typeface="Libre Baskerville" pitchFamily="18" charset="0"/>
                <a:ea typeface="Libre Baskerville" pitchFamily="18" charset="-122"/>
                <a:cs typeface="Libre Baskerville" pitchFamily="18" charset="-120"/>
              </a:rPr>
              <a:t>€0.5M</a:t>
            </a:r>
            <a:endParaRPr lang="en-US" sz="4800" dirty="0"/>
          </a:p>
        </p:txBody>
      </p:sp>
      <p:sp>
        <p:nvSpPr>
          <p:cNvPr id="6" name="Text 4"/>
          <p:cNvSpPr/>
          <p:nvPr/>
        </p:nvSpPr>
        <p:spPr>
          <a:xfrm>
            <a:off x="812800" y="2811735"/>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CFC2"/>
                </a:solidFill>
                <a:latin typeface="Inter" pitchFamily="34" charset="0"/>
                <a:ea typeface="Inter" pitchFamily="34" charset="-122"/>
                <a:cs typeface="Inter" pitchFamily="34" charset="-120"/>
              </a:rPr>
              <a:t>in beans saved per year when no roasted coffee expires</a:t>
            </a:r>
            <a:endParaRPr lang="en-US" sz="1500" dirty="0"/>
          </a:p>
        </p:txBody>
      </p:sp>
      <p:sp>
        <p:nvSpPr>
          <p:cNvPr id="7" name="Shape 5"/>
          <p:cNvSpPr/>
          <p:nvPr/>
        </p:nvSpPr>
        <p:spPr>
          <a:xfrm>
            <a:off x="4419600" y="1916385"/>
            <a:ext cx="3352800" cy="0"/>
          </a:xfrm>
          <a:prstGeom prst="line">
            <a:avLst/>
          </a:prstGeom>
          <a:noFill/>
          <a:ln w="12700">
            <a:solidFill>
              <a:srgbClr val="6B5A4E"/>
            </a:solidFill>
            <a:prstDash val="solid"/>
          </a:ln>
        </p:spPr>
      </p:sp>
      <p:sp>
        <p:nvSpPr>
          <p:cNvPr id="8" name="Text 6"/>
          <p:cNvSpPr/>
          <p:nvPr/>
        </p:nvSpPr>
        <p:spPr>
          <a:xfrm>
            <a:off x="4419600" y="2125935"/>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58A4E"/>
                </a:solidFill>
                <a:latin typeface="Libre Baskerville" pitchFamily="18" charset="0"/>
                <a:ea typeface="Libre Baskerville" pitchFamily="18" charset="-122"/>
                <a:cs typeface="Libre Baskerville" pitchFamily="18" charset="-120"/>
              </a:rPr>
              <a:t>+16%</a:t>
            </a:r>
            <a:endParaRPr lang="en-US" sz="4800" dirty="0"/>
          </a:p>
        </p:txBody>
      </p:sp>
      <p:sp>
        <p:nvSpPr>
          <p:cNvPr id="9" name="Text 7"/>
          <p:cNvSpPr/>
          <p:nvPr/>
        </p:nvSpPr>
        <p:spPr>
          <a:xfrm>
            <a:off x="4419600" y="2811735"/>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CFC2"/>
                </a:solidFill>
                <a:latin typeface="Inter" pitchFamily="34" charset="0"/>
                <a:ea typeface="Inter" pitchFamily="34" charset="-122"/>
                <a:cs typeface="Inter" pitchFamily="34" charset="-120"/>
              </a:rPr>
              <a:t>roasting capacity without buying a new machine</a:t>
            </a:r>
            <a:endParaRPr lang="en-US" sz="1500" dirty="0"/>
          </a:p>
        </p:txBody>
      </p:sp>
      <p:sp>
        <p:nvSpPr>
          <p:cNvPr id="10" name="Shape 8"/>
          <p:cNvSpPr/>
          <p:nvPr/>
        </p:nvSpPr>
        <p:spPr>
          <a:xfrm>
            <a:off x="8026400" y="1916385"/>
            <a:ext cx="3352800" cy="0"/>
          </a:xfrm>
          <a:prstGeom prst="line">
            <a:avLst/>
          </a:prstGeom>
          <a:noFill/>
          <a:ln w="12700">
            <a:solidFill>
              <a:srgbClr val="6B5A4E"/>
            </a:solidFill>
            <a:prstDash val="solid"/>
          </a:ln>
        </p:spPr>
      </p:sp>
      <p:sp>
        <p:nvSpPr>
          <p:cNvPr id="11" name="Text 9"/>
          <p:cNvSpPr/>
          <p:nvPr/>
        </p:nvSpPr>
        <p:spPr>
          <a:xfrm>
            <a:off x="8026400" y="2125935"/>
            <a:ext cx="345338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58A4E"/>
                </a:solidFill>
                <a:latin typeface="Libre Baskerville" pitchFamily="18" charset="0"/>
                <a:ea typeface="Libre Baskerville" pitchFamily="18" charset="-122"/>
                <a:cs typeface="Libre Baskerville" pitchFamily="18" charset="-120"/>
              </a:rPr>
              <a:t>+20%</a:t>
            </a:r>
            <a:endParaRPr lang="en-US" sz="4800" dirty="0"/>
          </a:p>
        </p:txBody>
      </p:sp>
      <p:sp>
        <p:nvSpPr>
          <p:cNvPr id="12" name="Text 10"/>
          <p:cNvSpPr/>
          <p:nvPr/>
        </p:nvSpPr>
        <p:spPr>
          <a:xfrm>
            <a:off x="8026400" y="2811735"/>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9CFC2"/>
                </a:solidFill>
                <a:latin typeface="Inter" pitchFamily="34" charset="0"/>
                <a:ea typeface="Inter" pitchFamily="34" charset="-122"/>
                <a:cs typeface="Inter" pitchFamily="34" charset="-120"/>
              </a:rPr>
              <a:t>growth absorbed, with a peak-season 2nd shift</a:t>
            </a:r>
            <a:endParaRPr lang="en-US" sz="1500" dirty="0"/>
          </a:p>
        </p:txBody>
      </p:sp>
      <p:sp>
        <p:nvSpPr>
          <p:cNvPr id="13" name="Text 11"/>
          <p:cNvSpPr/>
          <p:nvPr/>
        </p:nvSpPr>
        <p:spPr>
          <a:xfrm>
            <a:off x="812800" y="3700735"/>
            <a:ext cx="9810750" cy="665427"/>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7F3EC"/>
                </a:solidFill>
                <a:latin typeface="Inter" pitchFamily="34" charset="0"/>
                <a:ea typeface="Inter" pitchFamily="34" charset="-122"/>
                <a:cs typeface="Inter" pitchFamily="34" charset="-120"/>
              </a:rPr>
              <a:t>Our request today:</a:t>
            </a:r>
            <a:r>
              <a:rPr lang="en-US" sz="1800" dirty="0">
                <a:solidFill>
                  <a:srgbClr val="F7F3EC"/>
                </a:solidFill>
                <a:latin typeface="Inter" pitchFamily="34" charset="0"/>
                <a:ea typeface="Inter" pitchFamily="34" charset="-122"/>
                <a:cs typeface="Inter" pitchFamily="34" charset="-120"/>
              </a:rPr>
              <a:t> approve the 3-month fix plan and start preparing the peak-season shift, so the doors can reopen to new customers in month 9.</a:t>
            </a:r>
            <a:endParaRPr lang="en-US" sz="18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A899"/>
                </a:solidFill>
                <a:latin typeface="Inter" pitchFamily="34" charset="0"/>
                <a:ea typeface="Inter" pitchFamily="34" charset="-122"/>
                <a:cs typeface="Inter" pitchFamily="34" charset="-120"/>
              </a:rPr>
              <a:t>Estimates based on 2023 data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8D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561B"/>
                </a:solidFill>
                <a:latin typeface="Inter" pitchFamily="34" charset="0"/>
                <a:ea typeface="Inter" pitchFamily="34" charset="-122"/>
                <a:cs typeface="Inter" pitchFamily="34" charset="-120"/>
              </a:rPr>
              <a:t>APPENDIX</a:t>
            </a:r>
            <a:endParaRPr lang="en-US" sz="1200" dirty="0"/>
          </a:p>
        </p:txBody>
      </p:sp>
      <p:sp>
        <p:nvSpPr>
          <p:cNvPr id="3" name="Text 1"/>
          <p:cNvSpPr/>
          <p:nvPr>
            <p:ph type="title"/>
          </p:nvPr>
        </p:nvSpPr>
        <p:spPr>
          <a:xfrm>
            <a:off x="812800" y="1127720"/>
            <a:ext cx="10883392" cy="452107"/>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2B1D16"/>
                </a:solidFill>
                <a:latin typeface="Libre Baskerville" pitchFamily="18" charset="0"/>
                <a:ea typeface="Libre Baskerville" pitchFamily="18" charset="-122"/>
                <a:cs typeface="Libre Baskerville" pitchFamily="18" charset="-120"/>
              </a:rPr>
              <a:t>KPI definitions and assumptions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35"/>
          <a:ext cx="10553700" cy="3207147"/>
        </p:xfrm>
        <a:graphic>
          <a:graphicData uri="http://schemas.openxmlformats.org/drawingml/2006/table">
            <a:tbl>
              <a:tblPr/>
              <a:tblGrid>
                <a:gridCol w="3166110"/>
                <a:gridCol w="7387590"/>
              </a:tblGrid>
              <a:tr h="332647">
                <a:tc>
                  <a:txBody>
                    <a:bodyPr/>
                    <a:lstStyle/>
                    <a:p>
                      <a:pPr indent="0" marL="0">
                        <a:lnSpc>
                          <a:spcPts val="1680"/>
                        </a:lnSpc>
                        <a:buNone/>
                      </a:pPr>
                      <a:r>
                        <a:rPr lang="en-US" sz="1200" b="1" dirty="0">
                          <a:solidFill>
                            <a:srgbClr val="2B1D16"/>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1ACA3"/>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1ACA3"/>
                      </a:solidFill>
                      <a:prstDash val="solid"/>
                      <a:round/>
                      <a:headEnd type="none" w="med" len="med"/>
                      <a:tailEnd type="none" w="med" len="med"/>
                    </a:lnB>
                    <a:solidFill>
                      <a:srgbClr val="DDD7CC"/>
                    </a:solidFill>
                  </a:tcPr>
                </a:tc>
                <a:tc>
                  <a:txBody>
                    <a:bodyPr/>
                    <a:lstStyle/>
                    <a:p>
                      <a:pPr indent="0" marL="0">
                        <a:lnSpc>
                          <a:spcPts val="1680"/>
                        </a:lnSpc>
                        <a:buNone/>
                      </a:pPr>
                      <a:r>
                        <a:rPr lang="en-US" sz="1200" b="1" dirty="0">
                          <a:solidFill>
                            <a:srgbClr val="2B1D16"/>
                          </a:solidFill>
                          <a:latin typeface="Inter" pitchFamily="34" charset="0"/>
                          <a:ea typeface="Inter" pitchFamily="34" charset="-122"/>
                          <a:cs typeface="Inter" pitchFamily="34" charset="-120"/>
                        </a:rPr>
                        <a:t>Definition / assumption</a:t>
                      </a:r>
                      <a:endParaRPr lang="en-US" sz="1200" dirty="0">
                        <a:latin typeface="Inter" charset="0"/>
                        <a:ea typeface="Inter" charset="0"/>
                        <a:cs typeface="Inter" charset="0"/>
                      </a:endParaRPr>
                    </a:p>
                  </a:txBody>
                  <a:tcPr marL="53340" marR="53340" marT="53340" marB="53340" anchor="t">
                    <a:lnL w="12700" cap="flat" cmpd="sng" algn="ctr">
                      <a:solidFill>
                        <a:srgbClr val="B1ACA3"/>
                      </a:solidFill>
                      <a:prstDash val="solid"/>
                      <a:round/>
                      <a:headEnd type="none" w="med" len="med"/>
                      <a:tailEnd type="none" w="med" len="med"/>
                    </a:lnL>
                    <a:lnR w="12700" cap="flat" cmpd="sng" algn="ctr">
                      <a:solidFill>
                        <a:srgbClr val="B1ACA3"/>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1ACA3"/>
                      </a:solidFill>
                      <a:prstDash val="solid"/>
                      <a:round/>
                      <a:headEnd type="none" w="med" len="med"/>
                      <a:tailEnd type="none" w="med" len="med"/>
                    </a:lnB>
                    <a:solidFill>
                      <a:srgbClr val="DDD7CC"/>
                    </a:solidFill>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Roasted output</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1ACA3"/>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(batches per day × workdays − rejected batches) × final weight per batch</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1ACA3"/>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Demand in kg</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e-com bags × bag size (type 1 = 1 kg, type 2 = 0.5 kg, derived from price) + B2B 1 kg bags</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Machine hours per day</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batches per day × (setup + roast time); cooling runs in parallel; one 8-hour shift assumed</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Days of cover</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stock ÷ average use per (working) day in that month</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Value of expired coffee</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bean cost €8.32/kg green (weighted purchases) ÷ 81% yield = €10.33/kg roasted</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On time</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delivered on the next working day after ordering (weekends + Dutch holidays excluded)</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545968">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Quick wins (+16%)</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P60 batches 54.9 → 60 kg; Px120 110 → 120 kg and setup 6.0 → 4.1 min; weighted by machine output</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r h="332647">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Growth scenario</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c>
                  <a:txBody>
                    <a:bodyPr/>
                    <a:lstStyle/>
                    <a:p>
                      <a:pPr indent="0" marL="0">
                        <a:lnSpc>
                          <a:spcPts val="1680"/>
                        </a:lnSpc>
                        <a:buNone/>
                      </a:pPr>
                      <a:r>
                        <a:rPr lang="en-US" sz="1200" dirty="0">
                          <a:solidFill>
                            <a:srgbClr val="2B1D16"/>
                          </a:solidFill>
                          <a:latin typeface="Inter" pitchFamily="34" charset="0"/>
                          <a:ea typeface="Inter" pitchFamily="34" charset="-122"/>
                          <a:cs typeface="Inter" pitchFamily="34" charset="-120"/>
                        </a:rPr>
                        <a:t>2023 monthly demand × 1.2, same seasonal pattern; capacity = average monthly output 2023</a:t>
                      </a:r>
                      <a:endParaRPr lang="en-US" sz="1200" dirty="0">
                        <a:latin typeface="Inter" charset="0"/>
                        <a:ea typeface="Inter" charset="0"/>
                        <a:cs typeface="Inter" charset="0"/>
                      </a:endParaRPr>
                    </a:p>
                  </a:txBody>
                  <a:tcPr marL="53340" marR="53340" marT="53340" marB="53340" anchor="t">
                    <a:lnL w="12700" cap="flat" cmpd="sng" algn="ctr">
                      <a:solidFill>
                        <a:srgbClr val="BFB9B0"/>
                      </a:solidFill>
                      <a:prstDash val="solid"/>
                      <a:round/>
                      <a:headEnd type="none" w="med" len="med"/>
                      <a:tailEnd type="none" w="med" len="med"/>
                    </a:lnL>
                    <a:lnR w="12700" cap="flat" cmpd="sng" algn="ctr">
                      <a:solidFill>
                        <a:srgbClr val="BFB9B0"/>
                      </a:solidFill>
                      <a:prstDash val="solid"/>
                      <a:round/>
                      <a:headEnd type="none" w="med" len="med"/>
                      <a:tailEnd type="none" w="med" len="med"/>
                    </a:lnR>
                    <a:lnT w="12700" cap="flat" cmpd="sng" algn="ctr">
                      <a:solidFill>
                        <a:srgbClr val="BFB9B0"/>
                      </a:solidFill>
                      <a:prstDash val="solid"/>
                      <a:round/>
                      <a:headEnd type="none" w="med" len="med"/>
                      <a:tailEnd type="none" w="med" len="med"/>
                    </a:lnT>
                    <a:lnB w="12700" cap="flat" cmpd="sng" algn="ctr">
                      <a:solidFill>
                        <a:srgbClr val="BFB9B0"/>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068"/>
                </a:solidFill>
                <a:latin typeface="Inter" pitchFamily="34" charset="0"/>
                <a:ea typeface="Inter" pitchFamily="34" charset="-122"/>
                <a:cs typeface="Inter" pitchFamily="34" charset="-120"/>
              </a:rPr>
              <a:t>Analysis script: bean_there_analysis.py (Python, pandas, matplotlib) · 17</a:t>
            </a:r>
            <a:endParaRPr lang="en-US" sz="1200" dirty="0"/>
          </a:p>
        </p:txBody>
      </p:sp>
    </p:spTree>
  </p:cSld>
  <p:clrMapOvr>
    <a:masterClrMapping/>
  </p:clrMapOvr>
</p:sld>
</file>

<file path=ppt/theme/theme1.xml><?xml version="1.0" encoding="utf-8"?>
<a:theme xmlns:a="http://schemas.openxmlformats.org/drawingml/2006/main" name="Bean there done that – Ready to grow?">
  <a:themeElements>
    <a:clrScheme name="Bean there done that – Ready to grow?">
      <a:dk1>
        <a:srgbClr val="2B1D16"/>
      </a:dk1>
      <a:lt1>
        <a:srgbClr val="F7F3EC"/>
      </a:lt1>
      <a:dk2>
        <a:srgbClr val="5E534C"/>
      </a:dk2>
      <a:lt2>
        <a:srgbClr val="E3DED7"/>
      </a:lt2>
      <a:accent1>
        <a:srgbClr val="C4561B"/>
      </a:accent1>
      <a:accent2>
        <a:srgbClr val="2F6DB5"/>
      </a:accent2>
      <a:accent3>
        <a:srgbClr val="E58A4E"/>
      </a:accent3>
      <a:accent4>
        <a:srgbClr val="5C534C"/>
      </a:accent4>
      <a:accent5>
        <a:srgbClr val="7A7068"/>
      </a:accent5>
      <a:accent6>
        <a:srgbClr val="D9CFC2"/>
      </a:accent6>
      <a:hlink>
        <a:srgbClr val="0563C1"/>
      </a:hlink>
      <a:folHlink>
        <a:srgbClr val="954F72"/>
      </a:folHlink>
    </a:clrScheme>
    <a:fontScheme name="Bean there done that – Ready to grow?">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Bean there done that – Ready to grow?</dc:title>
  <dc:subject/>
  <dc:creator/>
  <cp:lastModifiedBy/>
  <cp:revision>1</cp:revision>
  <dcterms:created xsi:type="dcterms:W3CDTF">2026-10-09T14:44:01Z</dcterms:created>
  <dcterms:modified xsi:type="dcterms:W3CDTF">2026-10-09T14:44:01Z</dcterms:modified>
</cp:coreProperties>
</file>